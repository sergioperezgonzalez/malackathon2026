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 (5 min)" id="{8c83af74-abb4-18d0-50f2-3a76394fb575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Anexo (preguntas)" id="{6287d09c-c3b3-0304-e173-a38beb785527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F2A"/>
                </a:solidFill>
                <a:latin typeface="+mn-lt"/>
              </a:rPr>
              <a:t>Calidad de la separación (Silhouette) según nº de segmentos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00A19C"/>
            </a:solidFill>
            <a:ln w="25400" cap="flat">
              <a:solidFill>
                <a:srgbClr val="00A1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A19C"/>
              </a:solidFill>
              <a:ln w="9525" cap="flat">
                <a:solidFill>
                  <a:srgbClr val="00A1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0.1118</c:v>
                </c:pt>
                <c:pt idx="1">
                  <c:v>0.12</c:v>
                </c:pt>
                <c:pt idx="2">
                  <c:v>0.1306</c:v>
                </c:pt>
                <c:pt idx="3">
                  <c:v>0.1355</c:v>
                </c:pt>
                <c:pt idx="4">
                  <c:v>0.1219</c:v>
                </c:pt>
                <c:pt idx="5">
                  <c:v>0.1207</c:v>
                </c:pt>
                <c:pt idx="6">
                  <c:v>0.1135</c:v>
                </c:pt>
                <c:pt idx="7">
                  <c:v>0.1146</c:v>
                </c:pt>
                <c:pt idx="8">
                  <c:v>0.1124</c:v>
                </c:pt>
                <c:pt idx="9">
                  <c:v>0.1149</c:v>
                </c:pt>
                <c:pt idx="10">
                  <c:v>0.1153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4"/>
          <c:min val="0.1"/>
        </c:scaling>
        <c:delete val="0"/>
        <c:axPos val="l"/>
        <c:majorGridlines>
          <c:spPr>
            <a:ln w="6350" cap="flat">
              <a:solidFill>
                <a:srgbClr val="D9DE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Buenos días. Mercedes-Benz tiene 173.454 clientes en Suiza y Austria y quiere personalizar su marketing. Nuestra respuesta en una frase: hemos encontrado 5 tipos de cliente, cada uno con una acción concreta, y hemos demostrado que la segmentación es estable: el 99,3 % de los clientes no cambia de segmento aunque cambiemos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[0:20–1:00] Los datos venían por vehículo: 302.850 filas para 173.454 clientes, así que los agregamos a una fila por cliente. Había muchos datos incompletos; si hubiéramos borrado a esos clientes habríamos perdido el 19 %, y justo los más recientes, así que completamos esos datos de forma justificada. Elegimos 19 variables pensando en marketing. Para decidir cuántos segmentos, probamos de 2 a 12: con 5 la separación entre grupos es la mejor, coincide con el método del codo y el resultado se repite igual en 5 pruebas distintas.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[1:00–2:00] Estos son los 5 segmentos. Los nombres no son intuición: salen de las variables que más separan a cada grupo de la media. Fieles Acomodados: los clientes más antiguos y de zonas con más poder adquisitivo. Candidatos a Renovación, el grupo más grande: coche de combustión de más de 6 años comprado al contado. Pioneros Eléctricos: casi todo enchufable y el coche más nuevo. Clientes Silenciosos: tienen coche, pero solo aceptan que les contactemos por canal electrónico, no por teléfono ni por carta. Y Clientes Perdidos: ya no tienen ningún Mercedes. Lo importante: lo que separa a los clientes es su relación con la marca y la motorización, no la gama del coche.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[2:00–3:15] Y esto es lo que proponemos hacer, ordenado por prioridad. Los 58.380 Candidatos a Renovación son la mayor oportunidad de venta y de electrificación: un descuento por entregar su coche usado y una primera oferta de financiación, porque el 85 % nunca ha financiado. A los Fieles Acomodados, que tienen el coche en leasing, es decir, alquilado a largo plazo, ofrecerles el nuevo antes de que acabe el contrato. A los Pioneros Eléctricos, cargador en casa, tarifas de carga y los nuevos eléctricos de Mercedes. Y hay dos segmentos, el 22 % de la base, donde antes de vender hay que recuperar algo: el consentimiento en los Silenciosos, porque solo podemos llegarles por canal electrónico, y el vínculo en los Perdidos, con una campaña de recuperación.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[3:15–4:15] ¿Podemos tomar decisiones con esto? Lo comprobamos de tres formas. Uno: comparamos nuestro método con otros dos algoritmos y el nuestro separa mejor los grupos. Dos: quitamos al azar un 20 % de los clientes y reentrenamos 20 veces: el 99,3 % de los clientes cae siempre en su mismo segmento. Tres: con PCA, cada segmento aparece en la zona que predicen sus rasgos. Y no escondemos la limitación: la medida de separación es baja porque los clientes cambian de forma gradual, no forman grupos aislados; justamente por eso demostramos que la segmentación es 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[4:15–4:55] Nuestra recomendación: empezar por los 58.380 Candidatos a Renovación, que es donde está la venta. En paralelo, recuperar el contacto con los Silenciosos y los Perdidos, casi 40.000 clientes que hoy no se pueden activar. Y fidelizar y electrificar a Fieles y Pioneros. Es una segmentación reproducible, estable y lista para usar. Y un último detalle: nos llamamos Bodo Git por el Bodø/Glimt, un equipo pequeño que gana a los grandes porque cada jugador sabe exactamente qué hacer. Eso es lo que buscábamos para cada cliente.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2"/>
                </a:solidFill>
              </a:rPr>
              <a:t>Bodo Git · Clustering the Star · Malackathon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 173.454 clientes a 5 decisiones de marketing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Clustering the Star · Bodo Git · Malackathon 2026</a:t>
            </a:r>
            <a:endParaRPr lang="en-US" sz="1600" dirty="0"/>
          </a:p>
        </p:txBody>
      </p:sp>
      <p:sp>
        <p:nvSpPr>
          <p:cNvPr id="4" name="stat-0"/>
          <p:cNvSpPr txBox="1"/>
          <p:nvPr/>
        </p:nvSpPr>
        <p:spPr>
          <a:xfrm>
            <a:off x="54864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302.850</a:t>
            </a:r>
            <a:endParaRPr lang="en-US" sz="3000" dirty="0"/>
          </a:p>
        </p:txBody>
      </p:sp>
      <p:sp>
        <p:nvSpPr>
          <p:cNvPr id="5" name="stat-label-0"/>
          <p:cNvSpPr txBox="1"/>
          <p:nvPr/>
        </p:nvSpPr>
        <p:spPr>
          <a:xfrm>
            <a:off x="54864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registros cliente–vehículo</a:t>
            </a:r>
            <a:endParaRPr lang="en-US" sz="1300" dirty="0"/>
          </a:p>
        </p:txBody>
      </p:sp>
      <p:sp>
        <p:nvSpPr>
          <p:cNvPr id="6" name="stat-1"/>
          <p:cNvSpPr txBox="1"/>
          <p:nvPr/>
        </p:nvSpPr>
        <p:spPr>
          <a:xfrm>
            <a:off x="329184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</a:t>
            </a:r>
            <a:endParaRPr lang="en-US" sz="3000" dirty="0"/>
          </a:p>
        </p:txBody>
      </p:sp>
      <p:sp>
        <p:nvSpPr>
          <p:cNvPr id="7" name="stat-label-1"/>
          <p:cNvSpPr txBox="1"/>
          <p:nvPr/>
        </p:nvSpPr>
        <p:spPr>
          <a:xfrm>
            <a:off x="329184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segmentos accionables</a:t>
            </a:r>
            <a:endParaRPr lang="en-US" sz="1300" dirty="0"/>
          </a:p>
        </p:txBody>
      </p:sp>
      <p:sp>
        <p:nvSpPr>
          <p:cNvPr id="8" name="stat-2"/>
          <p:cNvSpPr txBox="1"/>
          <p:nvPr/>
        </p:nvSpPr>
        <p:spPr>
          <a:xfrm>
            <a:off x="603504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99,3 %</a:t>
            </a:r>
            <a:endParaRPr lang="en-US" sz="3000" dirty="0"/>
          </a:p>
        </p:txBody>
      </p:sp>
      <p:sp>
        <p:nvSpPr>
          <p:cNvPr id="9" name="stat-label-2"/>
          <p:cNvSpPr txBox="1"/>
          <p:nvPr/>
        </p:nvSpPr>
        <p:spPr>
          <a:xfrm>
            <a:off x="603504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de clientes estables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Preparamos los datos sin perder clientes</a:t>
            </a:r>
            <a:endParaRPr lang="en-US" sz="2800" dirty="0"/>
          </a:p>
        </p:txBody>
      </p:sp>
      <p:sp>
        <p:nvSpPr>
          <p:cNvPr id="3" name="num-0"/>
          <p:cNvSpPr txBox="1"/>
          <p:nvPr/>
        </p:nvSpPr>
        <p:spPr>
          <a:xfrm>
            <a:off x="45720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173.454</a:t>
            </a:r>
            <a:endParaRPr lang="en-US" sz="2800" dirty="0"/>
          </a:p>
        </p:txBody>
      </p:sp>
      <p:sp>
        <p:nvSpPr>
          <p:cNvPr id="4" name="unit-0"/>
          <p:cNvSpPr txBox="1"/>
          <p:nvPr/>
        </p:nvSpPr>
        <p:spPr>
          <a:xfrm>
            <a:off x="457200" y="1691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clientes</a:t>
            </a:r>
            <a:endParaRPr lang="en-US" sz="1200" dirty="0"/>
          </a:p>
        </p:txBody>
      </p:sp>
      <p:sp>
        <p:nvSpPr>
          <p:cNvPr id="5" name="desc-0"/>
          <p:cNvSpPr txBox="1"/>
          <p:nvPr/>
        </p:nvSpPr>
        <p:spPr>
          <a:xfrm>
            <a:off x="2148840" y="1234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302.850 filas cliente–vehículo agregadas a una fila por cliente</a:t>
            </a:r>
            <a:endParaRPr lang="en-US" sz="1300" dirty="0"/>
          </a:p>
        </p:txBody>
      </p:sp>
      <p:sp>
        <p:nvSpPr>
          <p:cNvPr id="6" name="num-1"/>
          <p:cNvSpPr txBox="1"/>
          <p:nvPr/>
        </p:nvSpPr>
        <p:spPr>
          <a:xfrm>
            <a:off x="457200" y="2331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19,1 %</a:t>
            </a:r>
            <a:endParaRPr lang="en-US" sz="2800" dirty="0"/>
          </a:p>
        </p:txBody>
      </p:sp>
      <p:sp>
        <p:nvSpPr>
          <p:cNvPr id="7" name="unit-1"/>
          <p:cNvSpPr txBox="1"/>
          <p:nvPr/>
        </p:nvSpPr>
        <p:spPr>
          <a:xfrm>
            <a:off x="457200" y="2834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no eliminados</a:t>
            </a:r>
            <a:endParaRPr lang="en-US" sz="1200" dirty="0"/>
          </a:p>
        </p:txBody>
      </p:sp>
      <p:sp>
        <p:nvSpPr>
          <p:cNvPr id="8" name="desc-1"/>
          <p:cNvSpPr txBox="1"/>
          <p:nvPr/>
        </p:nvSpPr>
        <p:spPr>
          <a:xfrm>
            <a:off x="214884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Borrar a los clientes con datos incompletos perdía 1 de cada 5, y no al azar: los completamos</a:t>
            </a:r>
            <a:endParaRPr lang="en-US" sz="1300" dirty="0"/>
          </a:p>
        </p:txBody>
      </p:sp>
      <p:sp>
        <p:nvSpPr>
          <p:cNvPr id="9" name="num-2"/>
          <p:cNvSpPr txBox="1"/>
          <p:nvPr/>
        </p:nvSpPr>
        <p:spPr>
          <a:xfrm>
            <a:off x="457200" y="3474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19</a:t>
            </a:r>
            <a:endParaRPr lang="en-US" sz="2800" dirty="0"/>
          </a:p>
        </p:txBody>
      </p:sp>
      <p:sp>
        <p:nvSpPr>
          <p:cNvPr id="10" name="unit-2"/>
          <p:cNvSpPr txBox="1"/>
          <p:nvPr/>
        </p:nvSpPr>
        <p:spPr>
          <a:xfrm>
            <a:off x="45720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variables</a:t>
            </a:r>
            <a:endParaRPr lang="en-US" sz="1200" dirty="0"/>
          </a:p>
        </p:txBody>
      </p:sp>
      <p:sp>
        <p:nvSpPr>
          <p:cNvPr id="11" name="desc-2"/>
          <p:cNvSpPr txBox="1"/>
          <p:nvPr/>
        </p:nvSpPr>
        <p:spPr>
          <a:xfrm>
            <a:off x="2148840" y="3520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Elegidas por su uso en marketing: antigüedad, coche, financiación, consentimiento…</a:t>
            </a:r>
            <a:endParaRPr lang="en-US" sz="1300" dirty="0"/>
          </a:p>
        </p:txBody>
      </p:sp>
      <p:graphicFrame>
        <p:nvGraphicFramePr>
          <p:cNvPr id="12" name="silhouette-chart" descr=""/>
          <p:cNvGraphicFramePr/>
          <p:nvPr/>
        </p:nvGraphicFramePr>
        <p:xfrm>
          <a:off x="4754880" y="1097280"/>
          <a:ext cx="3931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chart-caption"/>
          <p:cNvSpPr txBox="1"/>
          <p:nvPr/>
        </p:nvSpPr>
        <p:spPr>
          <a:xfrm>
            <a:off x="475488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Con 5 segmentos la separación es la mejor, y el resultado se repite igual en 5 pruebas distintas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 tipos de cliente, cada uno con un rasgo claro</a:t>
            </a:r>
            <a:endParaRPr lang="en-US" sz="2800" dirty="0"/>
          </a:p>
        </p:txBody>
      </p:sp>
      <p:sp>
        <p:nvSpPr>
          <p:cNvPr id="3" name="pct-caption"/>
          <p:cNvSpPr txBox="1"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Porcentaje = peso de cada tipo sobre el total de clientes</a:t>
            </a:r>
            <a:endParaRPr lang="en-US" sz="1100" dirty="0"/>
          </a:p>
        </p:txBody>
      </p:sp>
      <p:sp>
        <p:nvSpPr>
          <p:cNvPr id="4" name="card-0"/>
          <p:cNvSpPr/>
          <p:nvPr/>
        </p:nvSpPr>
        <p:spPr>
          <a:xfrm>
            <a:off x="457200" y="1188720"/>
            <a:ext cx="1517904" cy="32918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5" name="circle-0"/>
          <p:cNvSpPr/>
          <p:nvPr/>
        </p:nvSpPr>
        <p:spPr>
          <a:xfrm>
            <a:off x="736092" y="1371600"/>
            <a:ext cx="960120" cy="960120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6" name="pct-0"/>
          <p:cNvSpPr txBox="1"/>
          <p:nvPr/>
        </p:nvSpPr>
        <p:spPr>
          <a:xfrm>
            <a:off x="736092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28,6 %</a:t>
            </a:r>
            <a:endParaRPr lang="en-US" sz="1700" dirty="0"/>
          </a:p>
        </p:txBody>
      </p:sp>
      <p:sp>
        <p:nvSpPr>
          <p:cNvPr id="7" name="name-0"/>
          <p:cNvSpPr txBox="1"/>
          <p:nvPr/>
        </p:nvSpPr>
        <p:spPr>
          <a:xfrm>
            <a:off x="548640" y="24688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Fieles Acomodados</a:t>
            </a:r>
            <a:endParaRPr lang="en-US" sz="1400" dirty="0"/>
          </a:p>
        </p:txBody>
      </p:sp>
      <p:sp>
        <p:nvSpPr>
          <p:cNvPr id="8" name="trait-0"/>
          <p:cNvSpPr txBox="1"/>
          <p:nvPr/>
        </p:nvSpPr>
        <p:spPr>
          <a:xfrm>
            <a:off x="566928" y="31089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Llevan más tiempo con Mercedes y tienen mayor poder adquisitivo; 44 % con coche en leasing</a:t>
            </a:r>
            <a:endParaRPr lang="en-US" sz="1200" dirty="0"/>
          </a:p>
        </p:txBody>
      </p:sp>
      <p:sp>
        <p:nvSpPr>
          <p:cNvPr id="9" name="card-1"/>
          <p:cNvSpPr/>
          <p:nvPr/>
        </p:nvSpPr>
        <p:spPr>
          <a:xfrm>
            <a:off x="2130552" y="1188720"/>
            <a:ext cx="1517904" cy="32918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0" name="circle-1"/>
          <p:cNvSpPr/>
          <p:nvPr/>
        </p:nvSpPr>
        <p:spPr>
          <a:xfrm>
            <a:off x="2409444" y="1371600"/>
            <a:ext cx="960120" cy="960120"/>
          </a:xfrm>
          <a:prstGeom prst="ellipse">
            <a:avLst/>
          </a:prstGeom>
          <a:solidFill>
            <a:srgbClr val="FF7F0E"/>
          </a:solidFill>
          <a:ln/>
        </p:spPr>
      </p:sp>
      <p:sp>
        <p:nvSpPr>
          <p:cNvPr id="11" name="pct-1"/>
          <p:cNvSpPr txBox="1"/>
          <p:nvPr/>
        </p:nvSpPr>
        <p:spPr>
          <a:xfrm>
            <a:off x="2409444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33,7 %</a:t>
            </a:r>
            <a:endParaRPr lang="en-US" sz="1700" dirty="0"/>
          </a:p>
        </p:txBody>
      </p:sp>
      <p:sp>
        <p:nvSpPr>
          <p:cNvPr id="12" name="name-1"/>
          <p:cNvSpPr txBox="1"/>
          <p:nvPr/>
        </p:nvSpPr>
        <p:spPr>
          <a:xfrm>
            <a:off x="2221992" y="24688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Candidatos a Renovación</a:t>
            </a:r>
            <a:endParaRPr lang="en-US" sz="1400" dirty="0"/>
          </a:p>
        </p:txBody>
      </p:sp>
      <p:sp>
        <p:nvSpPr>
          <p:cNvPr id="13" name="trait-1"/>
          <p:cNvSpPr txBox="1"/>
          <p:nvPr/>
        </p:nvSpPr>
        <p:spPr>
          <a:xfrm>
            <a:off x="2240280" y="31089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Coche de gasolina o diésel de más de 6 años, comprado al contado; los más jóvenes</a:t>
            </a:r>
            <a:endParaRPr lang="en-US" sz="1200" dirty="0"/>
          </a:p>
        </p:txBody>
      </p:sp>
      <p:sp>
        <p:nvSpPr>
          <p:cNvPr id="14" name="card-2"/>
          <p:cNvSpPr/>
          <p:nvPr/>
        </p:nvSpPr>
        <p:spPr>
          <a:xfrm>
            <a:off x="3803904" y="1188720"/>
            <a:ext cx="1517904" cy="32918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15" name="circle-2"/>
          <p:cNvSpPr/>
          <p:nvPr/>
        </p:nvSpPr>
        <p:spPr>
          <a:xfrm>
            <a:off x="4082796" y="1371600"/>
            <a:ext cx="960120" cy="960120"/>
          </a:xfrm>
          <a:prstGeom prst="ellipse">
            <a:avLst/>
          </a:prstGeom>
          <a:solidFill>
            <a:srgbClr val="2CA02C"/>
          </a:solidFill>
          <a:ln/>
        </p:spPr>
      </p:sp>
      <p:sp>
        <p:nvSpPr>
          <p:cNvPr id="16" name="pct-2"/>
          <p:cNvSpPr txBox="1"/>
          <p:nvPr/>
        </p:nvSpPr>
        <p:spPr>
          <a:xfrm>
            <a:off x="4082796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15,1 %</a:t>
            </a:r>
            <a:endParaRPr lang="en-US" sz="1700" dirty="0"/>
          </a:p>
        </p:txBody>
      </p:sp>
      <p:sp>
        <p:nvSpPr>
          <p:cNvPr id="17" name="name-2"/>
          <p:cNvSpPr txBox="1"/>
          <p:nvPr/>
        </p:nvSpPr>
        <p:spPr>
          <a:xfrm>
            <a:off x="3895344" y="24688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Pioneros Eléctricos</a:t>
            </a:r>
            <a:endParaRPr lang="en-US" sz="1400" dirty="0"/>
          </a:p>
        </p:txBody>
      </p:sp>
      <p:sp>
        <p:nvSpPr>
          <p:cNvPr id="18" name="trait-2"/>
          <p:cNvSpPr txBox="1"/>
          <p:nvPr/>
        </p:nvSpPr>
        <p:spPr>
          <a:xfrm>
            <a:off x="3913632" y="31089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Casi todos tienen coche eléctrico o híbrido enchufable, el más nuevo (2,9 años)</a:t>
            </a:r>
            <a:endParaRPr lang="en-US" sz="1200" dirty="0"/>
          </a:p>
        </p:txBody>
      </p:sp>
      <p:sp>
        <p:nvSpPr>
          <p:cNvPr id="19" name="card-3"/>
          <p:cNvSpPr/>
          <p:nvPr/>
        </p:nvSpPr>
        <p:spPr>
          <a:xfrm>
            <a:off x="5477256" y="1188720"/>
            <a:ext cx="1517904" cy="32918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0" name="circle-3"/>
          <p:cNvSpPr/>
          <p:nvPr/>
        </p:nvSpPr>
        <p:spPr>
          <a:xfrm>
            <a:off x="5756148" y="1371600"/>
            <a:ext cx="960120" cy="960120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21" name="pct-3"/>
          <p:cNvSpPr txBox="1"/>
          <p:nvPr/>
        </p:nvSpPr>
        <p:spPr>
          <a:xfrm>
            <a:off x="5756148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12,5 %</a:t>
            </a:r>
            <a:endParaRPr lang="en-US" sz="1700" dirty="0"/>
          </a:p>
        </p:txBody>
      </p:sp>
      <p:sp>
        <p:nvSpPr>
          <p:cNvPr id="22" name="name-3"/>
          <p:cNvSpPr txBox="1"/>
          <p:nvPr/>
        </p:nvSpPr>
        <p:spPr>
          <a:xfrm>
            <a:off x="5568696" y="24688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Clientes Silenciosos</a:t>
            </a:r>
            <a:endParaRPr lang="en-US" sz="1400" dirty="0"/>
          </a:p>
        </p:txBody>
      </p:sp>
      <p:sp>
        <p:nvSpPr>
          <p:cNvPr id="23" name="trait-3"/>
          <p:cNvSpPr txBox="1"/>
          <p:nvPr/>
        </p:nvSpPr>
        <p:spPr>
          <a:xfrm>
            <a:off x="5586984" y="31089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Solo aceptan contacto electrónico: solo 1 de cada 7 acepta llamadas o cartas</a:t>
            </a:r>
            <a:endParaRPr lang="en-US" sz="1200" dirty="0"/>
          </a:p>
        </p:txBody>
      </p:sp>
      <p:sp>
        <p:nvSpPr>
          <p:cNvPr id="24" name="card-4"/>
          <p:cNvSpPr/>
          <p:nvPr/>
        </p:nvSpPr>
        <p:spPr>
          <a:xfrm>
            <a:off x="7150608" y="1188720"/>
            <a:ext cx="1517904" cy="329184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/>
        </p:spPr>
      </p:sp>
      <p:sp>
        <p:nvSpPr>
          <p:cNvPr id="25" name="circle-4"/>
          <p:cNvSpPr/>
          <p:nvPr/>
        </p:nvSpPr>
        <p:spPr>
          <a:xfrm>
            <a:off x="7429500" y="1371600"/>
            <a:ext cx="960120" cy="960120"/>
          </a:xfrm>
          <a:prstGeom prst="ellipse">
            <a:avLst/>
          </a:prstGeom>
          <a:solidFill>
            <a:srgbClr val="9467BD"/>
          </a:solidFill>
          <a:ln/>
        </p:spPr>
      </p:sp>
      <p:sp>
        <p:nvSpPr>
          <p:cNvPr id="26" name="pct-4"/>
          <p:cNvSpPr txBox="1"/>
          <p:nvPr/>
        </p:nvSpPr>
        <p:spPr>
          <a:xfrm>
            <a:off x="7429500" y="1371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10,1 %</a:t>
            </a:r>
            <a:endParaRPr lang="en-US" sz="1700" dirty="0"/>
          </a:p>
        </p:txBody>
      </p:sp>
      <p:sp>
        <p:nvSpPr>
          <p:cNvPr id="27" name="name-4"/>
          <p:cNvSpPr txBox="1"/>
          <p:nvPr/>
        </p:nvSpPr>
        <p:spPr>
          <a:xfrm>
            <a:off x="7242048" y="24688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Clientes Perdidos</a:t>
            </a:r>
            <a:endParaRPr lang="en-US" sz="1400" dirty="0"/>
          </a:p>
        </p:txBody>
      </p:sp>
      <p:sp>
        <p:nvSpPr>
          <p:cNvPr id="28" name="trait-4"/>
          <p:cNvSpPr txBox="1"/>
          <p:nvPr/>
        </p:nvSpPr>
        <p:spPr>
          <a:xfrm>
            <a:off x="7260336" y="310896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Ya no tienen ningún Mercedes-Benz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Una acción concreta por segmento, por prioridad</a:t>
            </a:r>
            <a:endParaRPr lang="en-US" sz="2800" dirty="0"/>
          </a:p>
        </p:txBody>
      </p:sp>
      <p:graphicFrame>
        <p:nvGraphicFramePr>
          <p:cNvPr id="5" name="action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868680"/>
                <a:gridCol w="388620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Segmento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Clientes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Acción de marketing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Canal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7F0E"/>
                          </a:solidFill>
                        </a:rPr>
                        <a:t>Candidatos a Renovación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58.380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Descuento por entregar su coche usado + primera oferta de financiación; plan de mantenimiento al acabar la garantía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Todos; sobre todo digital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7B4"/>
                          </a:solidFill>
                        </a:rPr>
                        <a:t>Fieles Acomodados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49.610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Ofrecerles el coche nuevo antes de que acabe su leasing y que prueben un eléctrico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Concesionario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A02C"/>
                          </a:solidFill>
                        </a:rPr>
                        <a:t>Pioneros Eléctricos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26.257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Cargador en casa, tarifas de carga y servicios conectados; renovar a los nuevos eléctricos (gama EQ)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App / digital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62728"/>
                          </a:solidFill>
                        </a:rPr>
                        <a:t>Clientes Silenciosos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21.646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Conseguir su permiso de contacto ofreciendo algo a cambio (avisos de mantenimiento, ofertas)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Solo electrónico; en el taller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67BD"/>
                          </a:solidFill>
                        </a:rPr>
                        <a:t>Clientes Perdidos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17.561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Campaña de recuperación: preguntar por qué se fueron y ofrecerles volver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Teléfono y correo postal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ble-caption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Primero, el segmento con más oportunidad de venta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No es casualidad: lo comprobamos de tres formas</a:t>
            </a:r>
            <a:endParaRPr lang="en-US" sz="2800" dirty="0"/>
          </a:p>
        </p:txBody>
      </p:sp>
      <p:sp>
        <p:nvSpPr>
          <p:cNvPr id="3" name="proof-card-0"/>
          <p:cNvSpPr/>
          <p:nvPr/>
        </p:nvSpPr>
        <p:spPr>
          <a:xfrm>
            <a:off x="457200" y="1188720"/>
            <a:ext cx="2596896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4" name="proof-num-0"/>
          <p:cNvSpPr txBox="1"/>
          <p:nvPr/>
        </p:nvSpPr>
        <p:spPr>
          <a:xfrm>
            <a:off x="68580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0,137</a:t>
            </a:r>
            <a:endParaRPr lang="en-US" sz="3200" dirty="0"/>
          </a:p>
        </p:txBody>
      </p:sp>
      <p:sp>
        <p:nvSpPr>
          <p:cNvPr id="5" name="proof-unit-0"/>
          <p:cNvSpPr txBox="1"/>
          <p:nvPr/>
        </p:nvSpPr>
        <p:spPr>
          <a:xfrm>
            <a:off x="68580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frente a 0,090</a:t>
            </a:r>
            <a:endParaRPr lang="en-US" sz="1300" dirty="0"/>
          </a:p>
        </p:txBody>
      </p:sp>
      <p:sp>
        <p:nvSpPr>
          <p:cNvPr id="6" name="proof-desc-0"/>
          <p:cNvSpPr txBox="1"/>
          <p:nvPr/>
        </p:nvSpPr>
        <p:spPr>
          <a:xfrm>
            <a:off x="68580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Nuestro método separa mejor que otros dos algoritmos (GMM y DBSCAN)</a:t>
            </a:r>
            <a:endParaRPr lang="en-US" sz="1300" dirty="0"/>
          </a:p>
        </p:txBody>
      </p:sp>
      <p:sp>
        <p:nvSpPr>
          <p:cNvPr id="7" name="proof-card-1"/>
          <p:cNvSpPr/>
          <p:nvPr/>
        </p:nvSpPr>
        <p:spPr>
          <a:xfrm>
            <a:off x="3273552" y="1188720"/>
            <a:ext cx="2596896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8" name="proof-num-1"/>
          <p:cNvSpPr txBox="1"/>
          <p:nvPr/>
        </p:nvSpPr>
        <p:spPr>
          <a:xfrm>
            <a:off x="3502152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99,3 %</a:t>
            </a:r>
            <a:endParaRPr lang="en-US" sz="3200" dirty="0"/>
          </a:p>
        </p:txBody>
      </p:sp>
      <p:sp>
        <p:nvSpPr>
          <p:cNvPr id="9" name="proof-unit-1"/>
          <p:cNvSpPr txBox="1"/>
          <p:nvPr/>
        </p:nvSpPr>
        <p:spPr>
          <a:xfrm>
            <a:off x="3502152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estables</a:t>
            </a:r>
            <a:endParaRPr lang="en-US" sz="1300" dirty="0"/>
          </a:p>
        </p:txBody>
      </p:sp>
      <p:sp>
        <p:nvSpPr>
          <p:cNvPr id="10" name="proof-desc-1"/>
          <p:cNvSpPr txBox="1"/>
          <p:nvPr/>
        </p:nvSpPr>
        <p:spPr>
          <a:xfrm>
            <a:off x="3502152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Quitando un 20 % de clientes 20 veces, no cambian de segmento</a:t>
            </a:r>
            <a:endParaRPr lang="en-US" sz="1300" dirty="0"/>
          </a:p>
        </p:txBody>
      </p:sp>
      <p:sp>
        <p:nvSpPr>
          <p:cNvPr id="11" name="proof-card-2"/>
          <p:cNvSpPr/>
          <p:nvPr/>
        </p:nvSpPr>
        <p:spPr>
          <a:xfrm>
            <a:off x="6089904" y="1188720"/>
            <a:ext cx="2596896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2" name="proof-num-2"/>
          <p:cNvSpPr txBox="1"/>
          <p:nvPr/>
        </p:nvSpPr>
        <p:spPr>
          <a:xfrm>
            <a:off x="6318504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PCA</a:t>
            </a:r>
            <a:endParaRPr lang="en-US" sz="3200" dirty="0"/>
          </a:p>
        </p:txBody>
      </p:sp>
      <p:sp>
        <p:nvSpPr>
          <p:cNvPr id="13" name="proof-unit-2"/>
          <p:cNvSpPr txBox="1"/>
          <p:nvPr/>
        </p:nvSpPr>
        <p:spPr>
          <a:xfrm>
            <a:off x="6318504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visualización</a:t>
            </a:r>
            <a:endParaRPr lang="en-US" sz="1300" dirty="0"/>
          </a:p>
        </p:txBody>
      </p:sp>
      <p:sp>
        <p:nvSpPr>
          <p:cNvPr id="14" name="proof-desc-2"/>
          <p:cNvSpPr txBox="1"/>
          <p:nvPr/>
        </p:nvSpPr>
        <p:spPr>
          <a:xfrm>
            <a:off x="6318504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 dibujar los datos, cada segmento cae en la zona que predicen sus rasgos</a:t>
            </a:r>
            <a:endParaRPr lang="en-US" sz="1300" dirty="0"/>
          </a:p>
        </p:txBody>
      </p:sp>
      <p:sp>
        <p:nvSpPr>
          <p:cNvPr id="15" name="limit-box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4E0"/>
          </a:solidFill>
          <a:ln/>
        </p:spPr>
      </p:sp>
      <p:sp>
        <p:nvSpPr>
          <p:cNvPr id="16" name="limit-text"/>
          <p:cNvSpPr txBox="1"/>
          <p:nvPr/>
        </p:nvSpPr>
        <p:spPr>
          <a:xfrm>
            <a:off x="68580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</a:rPr>
              <a:t>Lo que no escondemos: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</a:rPr>
              <a:t>la medida de separación (Silhouette, 0,14) es baja porque los clientes cambian de forma gradual, no forman grupos aislados. Por eso comprobamos la estabilidad: los segmentos son una división útil y fiable.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Por dónde empezar: renovar, recuperar y fidelizar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Una segmentación reproducible, estable y lista para activar</a:t>
            </a:r>
            <a:endParaRPr lang="en-US" sz="1600" dirty="0"/>
          </a:p>
        </p:txBody>
      </p:sp>
      <p:sp>
        <p:nvSpPr>
          <p:cNvPr id="4" name="step-dot-0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-num-0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-count-0"/>
          <p:cNvSpPr txBox="1"/>
          <p:nvPr/>
        </p:nvSpPr>
        <p:spPr>
          <a:xfrm>
            <a:off x="114300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58.380</a:t>
            </a:r>
            <a:endParaRPr lang="en-US" sz="2000" dirty="0"/>
          </a:p>
        </p:txBody>
      </p:sp>
      <p:sp>
        <p:nvSpPr>
          <p:cNvPr id="7" name="step-who-0"/>
          <p:cNvSpPr txBox="1"/>
          <p:nvPr/>
        </p:nvSpPr>
        <p:spPr>
          <a:xfrm>
            <a:off x="1143000" y="3703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Candidatos a Renovación</a:t>
            </a:r>
            <a:endParaRPr lang="en-US" sz="1200" dirty="0"/>
          </a:p>
        </p:txBody>
      </p:sp>
      <p:sp>
        <p:nvSpPr>
          <p:cNvPr id="8" name="step-what-0"/>
          <p:cNvSpPr txBox="1"/>
          <p:nvPr/>
        </p:nvSpPr>
        <p:spPr>
          <a:xfrm>
            <a:off x="114300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Campaña de renovación con financiación</a:t>
            </a:r>
            <a:endParaRPr lang="en-US" sz="1200" dirty="0"/>
          </a:p>
        </p:txBody>
      </p:sp>
      <p:sp>
        <p:nvSpPr>
          <p:cNvPr id="9" name="step-dot-1"/>
          <p:cNvSpPr/>
          <p:nvPr/>
        </p:nvSpPr>
        <p:spPr>
          <a:xfrm>
            <a:off x="32918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-num-1"/>
          <p:cNvSpPr txBox="1"/>
          <p:nvPr/>
        </p:nvSpPr>
        <p:spPr>
          <a:xfrm>
            <a:off x="32918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-count-1"/>
          <p:cNvSpPr txBox="1"/>
          <p:nvPr/>
        </p:nvSpPr>
        <p:spPr>
          <a:xfrm>
            <a:off x="388620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39.207</a:t>
            </a:r>
            <a:endParaRPr lang="en-US" sz="2000" dirty="0"/>
          </a:p>
        </p:txBody>
      </p:sp>
      <p:sp>
        <p:nvSpPr>
          <p:cNvPr id="12" name="step-who-1"/>
          <p:cNvSpPr txBox="1"/>
          <p:nvPr/>
        </p:nvSpPr>
        <p:spPr>
          <a:xfrm>
            <a:off x="3886200" y="3703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Silenciosos + Perdidos</a:t>
            </a:r>
            <a:endParaRPr lang="en-US" sz="1200" dirty="0"/>
          </a:p>
        </p:txBody>
      </p:sp>
      <p:sp>
        <p:nvSpPr>
          <p:cNvPr id="13" name="step-what-1"/>
          <p:cNvSpPr txBox="1"/>
          <p:nvPr/>
        </p:nvSpPr>
        <p:spPr>
          <a:xfrm>
            <a:off x="388620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Recuperar contacto y vínculo</a:t>
            </a:r>
            <a:endParaRPr lang="en-US" sz="1200" dirty="0"/>
          </a:p>
        </p:txBody>
      </p:sp>
      <p:sp>
        <p:nvSpPr>
          <p:cNvPr id="14" name="step-dot-2"/>
          <p:cNvSpPr/>
          <p:nvPr/>
        </p:nvSpPr>
        <p:spPr>
          <a:xfrm>
            <a:off x="60350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ep-num-2"/>
          <p:cNvSpPr txBox="1"/>
          <p:nvPr/>
        </p:nvSpPr>
        <p:spPr>
          <a:xfrm>
            <a:off x="6035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-count-2"/>
          <p:cNvSpPr txBox="1"/>
          <p:nvPr/>
        </p:nvSpPr>
        <p:spPr>
          <a:xfrm>
            <a:off x="662940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75.867</a:t>
            </a:r>
            <a:endParaRPr lang="en-US" sz="2000" dirty="0"/>
          </a:p>
        </p:txBody>
      </p:sp>
      <p:sp>
        <p:nvSpPr>
          <p:cNvPr id="17" name="step-who-2"/>
          <p:cNvSpPr txBox="1"/>
          <p:nvPr/>
        </p:nvSpPr>
        <p:spPr>
          <a:xfrm>
            <a:off x="6629400" y="3703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Fieles + Pioneros</a:t>
            </a:r>
            <a:endParaRPr lang="en-US" sz="1200" dirty="0"/>
          </a:p>
        </p:txBody>
      </p:sp>
      <p:sp>
        <p:nvSpPr>
          <p:cNvPr id="18" name="step-what-2"/>
          <p:cNvSpPr txBox="1"/>
          <p:nvPr/>
        </p:nvSpPr>
        <p:spPr>
          <a:xfrm>
            <a:off x="662940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Fidelizar y electrificar</a:t>
            </a:r>
            <a:endParaRPr lang="en-US" sz="1200" dirty="0"/>
          </a:p>
        </p:txBody>
      </p:sp>
      <p:sp>
        <p:nvSpPr>
          <p:cNvPr id="19" name="closing-wink"/>
          <p:cNvSpPr txBox="1"/>
          <p:nvPr/>
        </p:nvSpPr>
        <p:spPr>
          <a:xfrm>
            <a:off x="548640" y="45537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Bodo Git, como el Bodø/Glimt: cada jugador sabe qué hacer. Nosotros, con cada cliente.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A1 · Preparación de los datos</a:t>
            </a:r>
            <a:endParaRPr lang="en-US" sz="2800" dirty="0"/>
          </a:p>
        </p:txBody>
      </p:sp>
      <p:pic>
        <p:nvPicPr>
          <p:cNvPr id="3" name="img-r2_corr_antes_despues" descr="/private/tmp/claude-501/-Users-yusenliu-Documents-DEV-Github-Malackathon2026/313ffbb2-7413-43df-8c95-fb715e97ac8c/scratchpad/deck/r2_corr_antes_desp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188720"/>
            <a:ext cx="7399325" cy="3108960"/>
          </a:xfrm>
          <a:prstGeom prst="rect">
            <a:avLst/>
          </a:prstGeom>
        </p:spPr>
      </p:pic>
      <p:sp>
        <p:nvSpPr>
          <p:cNvPr id="4" name="annex-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Antes: 5 pares de variables redundantes (ρ ≥ 0,85). Después: 19 variables sin redundancias (máximo 0,41).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A2 · Elección del número de segmentos</a:t>
            </a:r>
            <a:endParaRPr lang="en-US" sz="2800" dirty="0"/>
          </a:p>
        </p:txBody>
      </p:sp>
      <p:pic>
        <p:nvPicPr>
          <p:cNvPr id="3" name="img-r3_codo" descr="/private/tmp/claude-501/-Users-yusenliu-Documents-DEV-Github-Malackathon2026/313ffbb2-7413-43df-8c95-fb715e97ac8c/scratchpad/deck/r3_c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1972235"/>
          </a:xfrm>
          <a:prstGeom prst="rect">
            <a:avLst/>
          </a:prstGeom>
        </p:spPr>
      </p:pic>
      <p:pic>
        <p:nvPicPr>
          <p:cNvPr id="4" name="img-r3_sil" descr="/private/tmp/claude-501/-Users-yusenliu-Documents-DEV-Github-Malackathon2026/313ffbb2-7413-43df-8c95-fb715e97ac8c/scratchpad/deck/r3_s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1972235"/>
          </a:xfrm>
          <a:prstGeom prst="rect">
            <a:avLst/>
          </a:prstGeom>
        </p:spPr>
      </p:pic>
      <p:sp>
        <p:nvSpPr>
          <p:cNvPr id="5" name="annex-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Codo: caídas de inercia ≥ 7,5 % hasta k = 5. Silhouette: máximo en k = 5 con las 5 semillas (ARI ≥ 0,993 entre semillas).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A3 · Qué distingue a cada segmento</a:t>
            </a:r>
            <a:endParaRPr lang="en-US" sz="2800" dirty="0"/>
          </a:p>
        </p:txBody>
      </p:sp>
      <p:pic>
        <p:nvPicPr>
          <p:cNvPr id="3" name="img-r4_heat" descr="/private/tmp/claude-501/-Users-yusenliu-Documents-DEV-Github-Malackathon2026/313ffbb2-7413-43df-8c95-fb715e97ac8c/scratchpad/deck/r4_h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9427" y="1051560"/>
            <a:ext cx="2765146" cy="3291840"/>
          </a:xfrm>
          <a:prstGeom prst="rect">
            <a:avLst/>
          </a:prstGeom>
        </p:spPr>
      </p:pic>
      <p:sp>
        <p:nvSpPr>
          <p:cNvPr id="4" name="annex-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Diferencia frente a la media en desviaciones típicas: los nombres salen de los rasgos más marcados (|d| &gt; 0,5).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A4 · Comparativa de algoritmos</a:t>
            </a:r>
            <a:endParaRPr lang="en-US" sz="2800" dirty="0"/>
          </a:p>
        </p:txBody>
      </p:sp>
      <p:pic>
        <p:nvPicPr>
          <p:cNvPr id="3" name="img-r5_metricas" descr="/private/tmp/claude-501/-Users-yusenliu-Documents-DEV-Github-Malackathon2026/313ffbb2-7413-43df-8c95-fb715e97ac8c/scratchpad/deck/r5_metri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2254685"/>
          </a:xfrm>
          <a:prstGeom prst="rect">
            <a:avLst/>
          </a:prstGeom>
        </p:spPr>
      </p:pic>
      <p:sp>
        <p:nvSpPr>
          <p:cNvPr id="4" name="annex-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Mismos datos y k = 5. GMM fusiona segmentos (ARI 0,39); DBSCAN solo separa a los Clientes Perdidos.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A5 · Visualización con PCA</a:t>
            </a:r>
            <a:endParaRPr lang="en-US" sz="2800" dirty="0"/>
          </a:p>
        </p:txBody>
      </p:sp>
      <p:pic>
        <p:nvPicPr>
          <p:cNvPr id="3" name="img-r6_2d" descr="/private/tmp/claude-501/-Users-yusenliu-Documents-DEV-Github-Malackathon2026/313ffbb2-7413-43df-8c95-fb715e97ac8c/scratchpad/deck/r6_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023360" cy="3193143"/>
          </a:xfrm>
          <a:prstGeom prst="rect">
            <a:avLst/>
          </a:prstGeom>
        </p:spPr>
      </p:pic>
      <p:pic>
        <p:nvPicPr>
          <p:cNvPr id="4" name="img-r6_pc45" descr="/private/tmp/claude-501/-Users-yusenliu-Documents-DEV-Github-Malackathon2026/313ffbb2-7413-43df-8c95-fb715e97ac8c/scratchpad/deck/r6_pc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023360" cy="2794000"/>
          </a:xfrm>
          <a:prstGeom prst="rect">
            <a:avLst/>
          </a:prstGeom>
        </p:spPr>
      </p:pic>
      <p:sp>
        <p:nvSpPr>
          <p:cNvPr id="5" name="annex-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PC1–PC2: se distinguen 3 segmentos. PC4–PC5: los Clientes Silenciosos solo se separan por el consentimiento.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A6 · Estabilidad (jackknife)</a:t>
            </a:r>
            <a:endParaRPr lang="en-US" sz="2800" dirty="0"/>
          </a:p>
        </p:txBody>
      </p:sp>
      <p:pic>
        <p:nvPicPr>
          <p:cNvPr id="3" name="img-r7_ari" descr="/private/tmp/claude-501/-Users-yusenliu-Documents-DEV-Github-Malackathon2026/313ffbb2-7413-43df-8c95-fb715e97ac8c/scratchpad/deck/r7_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023360" cy="1571625"/>
          </a:xfrm>
          <a:prstGeom prst="rect">
            <a:avLst/>
          </a:prstGeom>
        </p:spPr>
      </p:pic>
      <p:pic>
        <p:nvPicPr>
          <p:cNvPr id="4" name="img-r7_saltos" descr="/private/tmp/claude-501/-Users-yusenliu-Documents-DEV-Github-Malackathon2026/313ffbb2-7413-43df-8c95-fb715e97ac8c/scratchpad/deck/r7_sal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23360" cy="1571625"/>
          </a:xfrm>
          <a:prstGeom prst="rect">
            <a:avLst/>
          </a:prstGeom>
        </p:spPr>
      </p:pic>
      <p:sp>
        <p:nvSpPr>
          <p:cNvPr id="5" name="annex-no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20 reentrenamientos sin un 20 % de clientes: ARI 0,991–0,997; ningún segmento supera el 0,4 % de clientes que saltan.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do Git">
  <a:themeElements>
    <a:clrScheme name="Bodo Git">
      <a:dk1>
        <a:srgbClr val="1B1F2A"/>
      </a:dk1>
      <a:lt1>
        <a:srgbClr val="FFFFFF"/>
      </a:lt1>
      <a:dk2>
        <a:srgbClr val="3B4252"/>
      </a:dk2>
      <a:lt2>
        <a:srgbClr val="EEF1F5"/>
      </a:lt2>
      <a:accent1>
        <a:srgbClr val="00A19C"/>
      </a:accent1>
      <a:accent2>
        <a:srgbClr val="7A8699"/>
      </a:accent2>
      <a:accent3>
        <a:srgbClr val="E8A33D"/>
      </a:accent3>
      <a:accent4>
        <a:srgbClr val="1F77B4"/>
      </a:accent4>
      <a:accent5>
        <a:srgbClr val="9467BD"/>
      </a:accent5>
      <a:accent6>
        <a:srgbClr val="D62728"/>
      </a:accent6>
      <a:hlink>
        <a:srgbClr val="00A19C"/>
      </a:hlink>
      <a:folHlink>
        <a:srgbClr val="7A8699"/>
      </a:folHlink>
    </a:clrScheme>
    <a:fontScheme name="Bodo Gi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Bodo Git — presentación final</dc:title>
  <dc:subject>PptxGenJS Presentation</dc:subject>
  <dc:creator>Bodo Git</dc:creator>
  <cp:lastModifiedBy>Bodo Git</cp:lastModifiedBy>
  <cp:revision>1</cp:revision>
  <dcterms:created xsi:type="dcterms:W3CDTF">2026-10-15T20:11:26Z</dcterms:created>
  <dcterms:modified xsi:type="dcterms:W3CDTF">2026-10-15T20:11:26Z</dcterms:modified>
</cp:coreProperties>
</file>