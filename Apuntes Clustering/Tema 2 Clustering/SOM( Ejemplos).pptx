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57" r:id="rId3"/>
    <p:sldId id="258" r:id="rId4"/>
    <p:sldId id="259" r:id="rId5"/>
    <p:sldId id="260" r:id="rId6"/>
    <p:sldId id="261" r:id="rId7"/>
    <p:sldId id="262" r:id="rId8"/>
    <p:sldId id="263" r:id="rId9"/>
    <p:sldId id="256" r:id="rId10"/>
    <p:sldId id="265" r:id="rId11"/>
    <p:sldId id="266" r:id="rId12"/>
    <p:sldId id="267" r:id="rId13"/>
    <p:sldId id="268" r:id="rId14"/>
    <p:sldId id="270" r:id="rId15"/>
    <p:sldId id="269" r:id="rId16"/>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7" d="100"/>
          <a:sy n="67" d="100"/>
        </p:scale>
        <p:origin x="64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72A793-8A99-4612-809C-05B2F6489AA7}"/>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974E4154-5FA4-43E7-9D0B-B57912F279A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8E3C104E-6E7B-47A6-B346-8860A8FFF467}"/>
              </a:ext>
            </a:extLst>
          </p:cNvPr>
          <p:cNvSpPr>
            <a:spLocks noGrp="1"/>
          </p:cNvSpPr>
          <p:nvPr>
            <p:ph type="dt" sz="half" idx="10"/>
          </p:nvPr>
        </p:nvSpPr>
        <p:spPr/>
        <p:txBody>
          <a:bodyPr/>
          <a:lstStyle/>
          <a:p>
            <a:fld id="{896774D8-452A-4CAB-AAAB-35D1F6C7AC2D}" type="datetimeFigureOut">
              <a:rPr lang="es-ES" smtClean="0"/>
              <a:t>17/03/2025</a:t>
            </a:fld>
            <a:endParaRPr lang="es-ES"/>
          </a:p>
        </p:txBody>
      </p:sp>
      <p:sp>
        <p:nvSpPr>
          <p:cNvPr id="5" name="Marcador de pie de página 4">
            <a:extLst>
              <a:ext uri="{FF2B5EF4-FFF2-40B4-BE49-F238E27FC236}">
                <a16:creationId xmlns:a16="http://schemas.microsoft.com/office/drawing/2014/main" id="{5BCC5644-FB0F-4269-83DF-A6D64173D9E5}"/>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0CC8C9A8-7BB4-47CF-BBD6-979337BE559E}"/>
              </a:ext>
            </a:extLst>
          </p:cNvPr>
          <p:cNvSpPr>
            <a:spLocks noGrp="1"/>
          </p:cNvSpPr>
          <p:nvPr>
            <p:ph type="sldNum" sz="quarter" idx="12"/>
          </p:nvPr>
        </p:nvSpPr>
        <p:spPr/>
        <p:txBody>
          <a:bodyPr/>
          <a:lstStyle/>
          <a:p>
            <a:fld id="{4856EA4C-A6FD-42A4-AA1A-820741AF2301}" type="slidenum">
              <a:rPr lang="es-ES" smtClean="0"/>
              <a:t>‹Nº›</a:t>
            </a:fld>
            <a:endParaRPr lang="es-ES"/>
          </a:p>
        </p:txBody>
      </p:sp>
    </p:spTree>
    <p:extLst>
      <p:ext uri="{BB962C8B-B14F-4D97-AF65-F5344CB8AC3E}">
        <p14:creationId xmlns:p14="http://schemas.microsoft.com/office/powerpoint/2010/main" val="20049240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6ED7C9-A277-4663-8FF1-9C4C5A7BD356}"/>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628367EF-772C-45B2-9AB5-65D3A88E0981}"/>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283BB805-B4F6-4B3D-AD86-38D946AB63F7}"/>
              </a:ext>
            </a:extLst>
          </p:cNvPr>
          <p:cNvSpPr>
            <a:spLocks noGrp="1"/>
          </p:cNvSpPr>
          <p:nvPr>
            <p:ph type="dt" sz="half" idx="10"/>
          </p:nvPr>
        </p:nvSpPr>
        <p:spPr/>
        <p:txBody>
          <a:bodyPr/>
          <a:lstStyle/>
          <a:p>
            <a:fld id="{896774D8-452A-4CAB-AAAB-35D1F6C7AC2D}" type="datetimeFigureOut">
              <a:rPr lang="es-ES" smtClean="0"/>
              <a:t>17/03/2025</a:t>
            </a:fld>
            <a:endParaRPr lang="es-ES"/>
          </a:p>
        </p:txBody>
      </p:sp>
      <p:sp>
        <p:nvSpPr>
          <p:cNvPr id="5" name="Marcador de pie de página 4">
            <a:extLst>
              <a:ext uri="{FF2B5EF4-FFF2-40B4-BE49-F238E27FC236}">
                <a16:creationId xmlns:a16="http://schemas.microsoft.com/office/drawing/2014/main" id="{EE9E1129-64CB-4974-ABD2-5886EFE1260C}"/>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1A35CBE2-1A53-4316-8265-33AFB8577832}"/>
              </a:ext>
            </a:extLst>
          </p:cNvPr>
          <p:cNvSpPr>
            <a:spLocks noGrp="1"/>
          </p:cNvSpPr>
          <p:nvPr>
            <p:ph type="sldNum" sz="quarter" idx="12"/>
          </p:nvPr>
        </p:nvSpPr>
        <p:spPr/>
        <p:txBody>
          <a:bodyPr/>
          <a:lstStyle/>
          <a:p>
            <a:fld id="{4856EA4C-A6FD-42A4-AA1A-820741AF2301}" type="slidenum">
              <a:rPr lang="es-ES" smtClean="0"/>
              <a:t>‹Nº›</a:t>
            </a:fld>
            <a:endParaRPr lang="es-ES"/>
          </a:p>
        </p:txBody>
      </p:sp>
    </p:spTree>
    <p:extLst>
      <p:ext uri="{BB962C8B-B14F-4D97-AF65-F5344CB8AC3E}">
        <p14:creationId xmlns:p14="http://schemas.microsoft.com/office/powerpoint/2010/main" val="2429104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D0C9B0-22B8-4DB6-A13C-7CCCB98689A1}"/>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466D4474-5CA2-4C78-A50D-2654DD88C14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D89C510-DC10-44C8-AB3D-BD1E17517AF2}"/>
              </a:ext>
            </a:extLst>
          </p:cNvPr>
          <p:cNvSpPr>
            <a:spLocks noGrp="1"/>
          </p:cNvSpPr>
          <p:nvPr>
            <p:ph type="dt" sz="half" idx="10"/>
          </p:nvPr>
        </p:nvSpPr>
        <p:spPr/>
        <p:txBody>
          <a:bodyPr/>
          <a:lstStyle/>
          <a:p>
            <a:fld id="{896774D8-452A-4CAB-AAAB-35D1F6C7AC2D}" type="datetimeFigureOut">
              <a:rPr lang="es-ES" smtClean="0"/>
              <a:t>17/03/2025</a:t>
            </a:fld>
            <a:endParaRPr lang="es-ES"/>
          </a:p>
        </p:txBody>
      </p:sp>
      <p:sp>
        <p:nvSpPr>
          <p:cNvPr id="5" name="Marcador de pie de página 4">
            <a:extLst>
              <a:ext uri="{FF2B5EF4-FFF2-40B4-BE49-F238E27FC236}">
                <a16:creationId xmlns:a16="http://schemas.microsoft.com/office/drawing/2014/main" id="{A02EFE50-E2EE-497E-BD08-9DCA80A68CC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7370793C-A88A-4223-9EA2-C7EBDB56A7B0}"/>
              </a:ext>
            </a:extLst>
          </p:cNvPr>
          <p:cNvSpPr>
            <a:spLocks noGrp="1"/>
          </p:cNvSpPr>
          <p:nvPr>
            <p:ph type="sldNum" sz="quarter" idx="12"/>
          </p:nvPr>
        </p:nvSpPr>
        <p:spPr/>
        <p:txBody>
          <a:bodyPr/>
          <a:lstStyle/>
          <a:p>
            <a:fld id="{4856EA4C-A6FD-42A4-AA1A-820741AF2301}" type="slidenum">
              <a:rPr lang="es-ES" smtClean="0"/>
              <a:t>‹Nº›</a:t>
            </a:fld>
            <a:endParaRPr lang="es-ES"/>
          </a:p>
        </p:txBody>
      </p:sp>
    </p:spTree>
    <p:extLst>
      <p:ext uri="{BB962C8B-B14F-4D97-AF65-F5344CB8AC3E}">
        <p14:creationId xmlns:p14="http://schemas.microsoft.com/office/powerpoint/2010/main" val="2622916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7D4CDA-2E99-4870-8F27-63477D1218A9}"/>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D59B1248-C29D-4AE5-BEF6-95D81BF6961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641AE6DA-BDD2-4F0A-AA5D-842F172F6D34}"/>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8894571C-853B-4422-8A8B-6514D874093A}"/>
              </a:ext>
            </a:extLst>
          </p:cNvPr>
          <p:cNvSpPr>
            <a:spLocks noGrp="1"/>
          </p:cNvSpPr>
          <p:nvPr>
            <p:ph type="dt" sz="half" idx="10"/>
          </p:nvPr>
        </p:nvSpPr>
        <p:spPr/>
        <p:txBody>
          <a:bodyPr/>
          <a:lstStyle/>
          <a:p>
            <a:fld id="{896774D8-452A-4CAB-AAAB-35D1F6C7AC2D}" type="datetimeFigureOut">
              <a:rPr lang="es-ES" smtClean="0"/>
              <a:t>17/03/2025</a:t>
            </a:fld>
            <a:endParaRPr lang="es-ES"/>
          </a:p>
        </p:txBody>
      </p:sp>
      <p:sp>
        <p:nvSpPr>
          <p:cNvPr id="6" name="Marcador de pie de página 5">
            <a:extLst>
              <a:ext uri="{FF2B5EF4-FFF2-40B4-BE49-F238E27FC236}">
                <a16:creationId xmlns:a16="http://schemas.microsoft.com/office/drawing/2014/main" id="{6EDC9353-1261-4EBE-BFA6-B21F4292525F}"/>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450B8A0C-ED56-4288-BEB5-C854F416FADF}"/>
              </a:ext>
            </a:extLst>
          </p:cNvPr>
          <p:cNvSpPr>
            <a:spLocks noGrp="1"/>
          </p:cNvSpPr>
          <p:nvPr>
            <p:ph type="sldNum" sz="quarter" idx="12"/>
          </p:nvPr>
        </p:nvSpPr>
        <p:spPr/>
        <p:txBody>
          <a:bodyPr/>
          <a:lstStyle/>
          <a:p>
            <a:fld id="{4856EA4C-A6FD-42A4-AA1A-820741AF2301}" type="slidenum">
              <a:rPr lang="es-ES" smtClean="0"/>
              <a:t>‹Nº›</a:t>
            </a:fld>
            <a:endParaRPr lang="es-ES"/>
          </a:p>
        </p:txBody>
      </p:sp>
    </p:spTree>
    <p:extLst>
      <p:ext uri="{BB962C8B-B14F-4D97-AF65-F5344CB8AC3E}">
        <p14:creationId xmlns:p14="http://schemas.microsoft.com/office/powerpoint/2010/main" val="3440769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DC2D58-1CCE-4BB4-910E-B547B2AEF4FA}"/>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4685D25A-6011-4904-8442-5CD0696F21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F08B36F-F62F-4618-A44B-719F7798764D}"/>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48E2D9DF-376B-4831-964D-737D92B9BB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5D37F66-D32C-47BF-9F6B-3A963DEE8ECB}"/>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7B1FC9F2-A187-4F65-A19B-5C1099A0B89B}"/>
              </a:ext>
            </a:extLst>
          </p:cNvPr>
          <p:cNvSpPr>
            <a:spLocks noGrp="1"/>
          </p:cNvSpPr>
          <p:nvPr>
            <p:ph type="dt" sz="half" idx="10"/>
          </p:nvPr>
        </p:nvSpPr>
        <p:spPr/>
        <p:txBody>
          <a:bodyPr/>
          <a:lstStyle/>
          <a:p>
            <a:fld id="{896774D8-452A-4CAB-AAAB-35D1F6C7AC2D}" type="datetimeFigureOut">
              <a:rPr lang="es-ES" smtClean="0"/>
              <a:t>17/03/2025</a:t>
            </a:fld>
            <a:endParaRPr lang="es-ES"/>
          </a:p>
        </p:txBody>
      </p:sp>
      <p:sp>
        <p:nvSpPr>
          <p:cNvPr id="8" name="Marcador de pie de página 7">
            <a:extLst>
              <a:ext uri="{FF2B5EF4-FFF2-40B4-BE49-F238E27FC236}">
                <a16:creationId xmlns:a16="http://schemas.microsoft.com/office/drawing/2014/main" id="{65696D90-74AC-4265-86BD-164FCF118073}"/>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4C1C589D-0AF7-4DA2-83D6-C156EF90BA44}"/>
              </a:ext>
            </a:extLst>
          </p:cNvPr>
          <p:cNvSpPr>
            <a:spLocks noGrp="1"/>
          </p:cNvSpPr>
          <p:nvPr>
            <p:ph type="sldNum" sz="quarter" idx="12"/>
          </p:nvPr>
        </p:nvSpPr>
        <p:spPr/>
        <p:txBody>
          <a:bodyPr/>
          <a:lstStyle/>
          <a:p>
            <a:fld id="{4856EA4C-A6FD-42A4-AA1A-820741AF2301}" type="slidenum">
              <a:rPr lang="es-ES" smtClean="0"/>
              <a:t>‹Nº›</a:t>
            </a:fld>
            <a:endParaRPr lang="es-ES"/>
          </a:p>
        </p:txBody>
      </p:sp>
    </p:spTree>
    <p:extLst>
      <p:ext uri="{BB962C8B-B14F-4D97-AF65-F5344CB8AC3E}">
        <p14:creationId xmlns:p14="http://schemas.microsoft.com/office/powerpoint/2010/main" val="39689975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013240-05DF-4B92-9953-8C766A4BA59D}"/>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CCA7F9FD-D870-45B2-BE40-55F0360F2CCA}"/>
              </a:ext>
            </a:extLst>
          </p:cNvPr>
          <p:cNvSpPr>
            <a:spLocks noGrp="1"/>
          </p:cNvSpPr>
          <p:nvPr>
            <p:ph type="dt" sz="half" idx="10"/>
          </p:nvPr>
        </p:nvSpPr>
        <p:spPr/>
        <p:txBody>
          <a:bodyPr/>
          <a:lstStyle/>
          <a:p>
            <a:fld id="{896774D8-452A-4CAB-AAAB-35D1F6C7AC2D}" type="datetimeFigureOut">
              <a:rPr lang="es-ES" smtClean="0"/>
              <a:t>17/03/2025</a:t>
            </a:fld>
            <a:endParaRPr lang="es-ES"/>
          </a:p>
        </p:txBody>
      </p:sp>
      <p:sp>
        <p:nvSpPr>
          <p:cNvPr id="4" name="Marcador de pie de página 3">
            <a:extLst>
              <a:ext uri="{FF2B5EF4-FFF2-40B4-BE49-F238E27FC236}">
                <a16:creationId xmlns:a16="http://schemas.microsoft.com/office/drawing/2014/main" id="{F92935A5-70F8-44E8-9216-998E1C442A52}"/>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5EE09E21-0322-47A0-80EA-A65DD0F505A1}"/>
              </a:ext>
            </a:extLst>
          </p:cNvPr>
          <p:cNvSpPr>
            <a:spLocks noGrp="1"/>
          </p:cNvSpPr>
          <p:nvPr>
            <p:ph type="sldNum" sz="quarter" idx="12"/>
          </p:nvPr>
        </p:nvSpPr>
        <p:spPr/>
        <p:txBody>
          <a:bodyPr/>
          <a:lstStyle/>
          <a:p>
            <a:fld id="{4856EA4C-A6FD-42A4-AA1A-820741AF2301}" type="slidenum">
              <a:rPr lang="es-ES" smtClean="0"/>
              <a:t>‹Nº›</a:t>
            </a:fld>
            <a:endParaRPr lang="es-ES"/>
          </a:p>
        </p:txBody>
      </p:sp>
    </p:spTree>
    <p:extLst>
      <p:ext uri="{BB962C8B-B14F-4D97-AF65-F5344CB8AC3E}">
        <p14:creationId xmlns:p14="http://schemas.microsoft.com/office/powerpoint/2010/main" val="1974674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C1ED56C-33F3-4198-B519-EC1C91556543}"/>
              </a:ext>
            </a:extLst>
          </p:cNvPr>
          <p:cNvSpPr>
            <a:spLocks noGrp="1"/>
          </p:cNvSpPr>
          <p:nvPr>
            <p:ph type="dt" sz="half" idx="10"/>
          </p:nvPr>
        </p:nvSpPr>
        <p:spPr/>
        <p:txBody>
          <a:bodyPr/>
          <a:lstStyle/>
          <a:p>
            <a:fld id="{896774D8-452A-4CAB-AAAB-35D1F6C7AC2D}" type="datetimeFigureOut">
              <a:rPr lang="es-ES" smtClean="0"/>
              <a:t>17/03/2025</a:t>
            </a:fld>
            <a:endParaRPr lang="es-ES"/>
          </a:p>
        </p:txBody>
      </p:sp>
      <p:sp>
        <p:nvSpPr>
          <p:cNvPr id="3" name="Marcador de pie de página 2">
            <a:extLst>
              <a:ext uri="{FF2B5EF4-FFF2-40B4-BE49-F238E27FC236}">
                <a16:creationId xmlns:a16="http://schemas.microsoft.com/office/drawing/2014/main" id="{1C84C3C2-E168-4F48-BA6E-FE65875281FB}"/>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10AF051C-62D8-4AD8-B036-FBF25D80CD92}"/>
              </a:ext>
            </a:extLst>
          </p:cNvPr>
          <p:cNvSpPr>
            <a:spLocks noGrp="1"/>
          </p:cNvSpPr>
          <p:nvPr>
            <p:ph type="sldNum" sz="quarter" idx="12"/>
          </p:nvPr>
        </p:nvSpPr>
        <p:spPr/>
        <p:txBody>
          <a:bodyPr/>
          <a:lstStyle/>
          <a:p>
            <a:fld id="{4856EA4C-A6FD-42A4-AA1A-820741AF2301}" type="slidenum">
              <a:rPr lang="es-ES" smtClean="0"/>
              <a:t>‹Nº›</a:t>
            </a:fld>
            <a:endParaRPr lang="es-ES"/>
          </a:p>
        </p:txBody>
      </p:sp>
    </p:spTree>
    <p:extLst>
      <p:ext uri="{BB962C8B-B14F-4D97-AF65-F5344CB8AC3E}">
        <p14:creationId xmlns:p14="http://schemas.microsoft.com/office/powerpoint/2010/main" val="2931509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89F5C3-180A-4777-A4BE-3E9BB9BAA42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FEE2AF63-672E-42D1-9E9B-98B13485EB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E53375FE-7A11-430E-8D92-E3B57A369D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EF1422B-F4E8-49F5-BD3F-FF6A8C6CAA0A}"/>
              </a:ext>
            </a:extLst>
          </p:cNvPr>
          <p:cNvSpPr>
            <a:spLocks noGrp="1"/>
          </p:cNvSpPr>
          <p:nvPr>
            <p:ph type="dt" sz="half" idx="10"/>
          </p:nvPr>
        </p:nvSpPr>
        <p:spPr/>
        <p:txBody>
          <a:bodyPr/>
          <a:lstStyle/>
          <a:p>
            <a:fld id="{896774D8-452A-4CAB-AAAB-35D1F6C7AC2D}" type="datetimeFigureOut">
              <a:rPr lang="es-ES" smtClean="0"/>
              <a:t>17/03/2025</a:t>
            </a:fld>
            <a:endParaRPr lang="es-ES"/>
          </a:p>
        </p:txBody>
      </p:sp>
      <p:sp>
        <p:nvSpPr>
          <p:cNvPr id="6" name="Marcador de pie de página 5">
            <a:extLst>
              <a:ext uri="{FF2B5EF4-FFF2-40B4-BE49-F238E27FC236}">
                <a16:creationId xmlns:a16="http://schemas.microsoft.com/office/drawing/2014/main" id="{656C56BA-110C-47FB-B244-D0EDAFFF3A65}"/>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29D4B8FE-FCEF-4E67-80E0-8FAD563AF2DE}"/>
              </a:ext>
            </a:extLst>
          </p:cNvPr>
          <p:cNvSpPr>
            <a:spLocks noGrp="1"/>
          </p:cNvSpPr>
          <p:nvPr>
            <p:ph type="sldNum" sz="quarter" idx="12"/>
          </p:nvPr>
        </p:nvSpPr>
        <p:spPr/>
        <p:txBody>
          <a:bodyPr/>
          <a:lstStyle/>
          <a:p>
            <a:fld id="{4856EA4C-A6FD-42A4-AA1A-820741AF2301}" type="slidenum">
              <a:rPr lang="es-ES" smtClean="0"/>
              <a:t>‹Nº›</a:t>
            </a:fld>
            <a:endParaRPr lang="es-ES"/>
          </a:p>
        </p:txBody>
      </p:sp>
    </p:spTree>
    <p:extLst>
      <p:ext uri="{BB962C8B-B14F-4D97-AF65-F5344CB8AC3E}">
        <p14:creationId xmlns:p14="http://schemas.microsoft.com/office/powerpoint/2010/main" val="5748879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237614-8462-4C89-9482-72C80E900BB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B580AD79-060E-4049-869A-59833A0C6B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A0C417FB-C7C1-4944-9C1C-38DEC715B7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3EFC23B-EBFB-4C06-9F66-CEBF93672366}"/>
              </a:ext>
            </a:extLst>
          </p:cNvPr>
          <p:cNvSpPr>
            <a:spLocks noGrp="1"/>
          </p:cNvSpPr>
          <p:nvPr>
            <p:ph type="dt" sz="half" idx="10"/>
          </p:nvPr>
        </p:nvSpPr>
        <p:spPr/>
        <p:txBody>
          <a:bodyPr/>
          <a:lstStyle/>
          <a:p>
            <a:fld id="{896774D8-452A-4CAB-AAAB-35D1F6C7AC2D}" type="datetimeFigureOut">
              <a:rPr lang="es-ES" smtClean="0"/>
              <a:t>17/03/2025</a:t>
            </a:fld>
            <a:endParaRPr lang="es-ES"/>
          </a:p>
        </p:txBody>
      </p:sp>
      <p:sp>
        <p:nvSpPr>
          <p:cNvPr id="6" name="Marcador de pie de página 5">
            <a:extLst>
              <a:ext uri="{FF2B5EF4-FFF2-40B4-BE49-F238E27FC236}">
                <a16:creationId xmlns:a16="http://schemas.microsoft.com/office/drawing/2014/main" id="{D7FEBD5B-81B6-413B-915B-488082E9534D}"/>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BF1372E2-A82A-4DA5-9CF1-AC1ADB3A1BF4}"/>
              </a:ext>
            </a:extLst>
          </p:cNvPr>
          <p:cNvSpPr>
            <a:spLocks noGrp="1"/>
          </p:cNvSpPr>
          <p:nvPr>
            <p:ph type="sldNum" sz="quarter" idx="12"/>
          </p:nvPr>
        </p:nvSpPr>
        <p:spPr/>
        <p:txBody>
          <a:bodyPr/>
          <a:lstStyle/>
          <a:p>
            <a:fld id="{4856EA4C-A6FD-42A4-AA1A-820741AF2301}" type="slidenum">
              <a:rPr lang="es-ES" smtClean="0"/>
              <a:t>‹Nº›</a:t>
            </a:fld>
            <a:endParaRPr lang="es-ES"/>
          </a:p>
        </p:txBody>
      </p:sp>
    </p:spTree>
    <p:extLst>
      <p:ext uri="{BB962C8B-B14F-4D97-AF65-F5344CB8AC3E}">
        <p14:creationId xmlns:p14="http://schemas.microsoft.com/office/powerpoint/2010/main" val="1827977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8269A8-9FD8-408F-B305-565EA103E22F}"/>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AD16090C-2ECC-47E1-922F-58721CF4044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3CC4751D-907A-44E8-B983-AE297E77099A}"/>
              </a:ext>
            </a:extLst>
          </p:cNvPr>
          <p:cNvSpPr>
            <a:spLocks noGrp="1"/>
          </p:cNvSpPr>
          <p:nvPr>
            <p:ph type="dt" sz="half" idx="10"/>
          </p:nvPr>
        </p:nvSpPr>
        <p:spPr/>
        <p:txBody>
          <a:bodyPr/>
          <a:lstStyle/>
          <a:p>
            <a:fld id="{896774D8-452A-4CAB-AAAB-35D1F6C7AC2D}" type="datetimeFigureOut">
              <a:rPr lang="es-ES" smtClean="0"/>
              <a:t>17/03/2025</a:t>
            </a:fld>
            <a:endParaRPr lang="es-ES"/>
          </a:p>
        </p:txBody>
      </p:sp>
      <p:sp>
        <p:nvSpPr>
          <p:cNvPr id="5" name="Marcador de pie de página 4">
            <a:extLst>
              <a:ext uri="{FF2B5EF4-FFF2-40B4-BE49-F238E27FC236}">
                <a16:creationId xmlns:a16="http://schemas.microsoft.com/office/drawing/2014/main" id="{A169C483-A2EA-4ADF-8D2B-BCF9722F2FB2}"/>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CE5D4512-F751-4CEB-AF64-2D0A8137E94D}"/>
              </a:ext>
            </a:extLst>
          </p:cNvPr>
          <p:cNvSpPr>
            <a:spLocks noGrp="1"/>
          </p:cNvSpPr>
          <p:nvPr>
            <p:ph type="sldNum" sz="quarter" idx="12"/>
          </p:nvPr>
        </p:nvSpPr>
        <p:spPr/>
        <p:txBody>
          <a:bodyPr/>
          <a:lstStyle/>
          <a:p>
            <a:fld id="{4856EA4C-A6FD-42A4-AA1A-820741AF2301}" type="slidenum">
              <a:rPr lang="es-ES" smtClean="0"/>
              <a:t>‹Nº›</a:t>
            </a:fld>
            <a:endParaRPr lang="es-ES"/>
          </a:p>
        </p:txBody>
      </p:sp>
    </p:spTree>
    <p:extLst>
      <p:ext uri="{BB962C8B-B14F-4D97-AF65-F5344CB8AC3E}">
        <p14:creationId xmlns:p14="http://schemas.microsoft.com/office/powerpoint/2010/main" val="42192299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9429A3B-CC0D-4777-8C11-1749C672EF8E}"/>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6EC617A6-F0C6-4B3A-8692-2311E243F4DB}"/>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92B02D94-A7D7-493A-8DB1-DCB0FDD0A11A}"/>
              </a:ext>
            </a:extLst>
          </p:cNvPr>
          <p:cNvSpPr>
            <a:spLocks noGrp="1"/>
          </p:cNvSpPr>
          <p:nvPr>
            <p:ph type="dt" sz="half" idx="10"/>
          </p:nvPr>
        </p:nvSpPr>
        <p:spPr/>
        <p:txBody>
          <a:bodyPr/>
          <a:lstStyle/>
          <a:p>
            <a:fld id="{896774D8-452A-4CAB-AAAB-35D1F6C7AC2D}" type="datetimeFigureOut">
              <a:rPr lang="es-ES" smtClean="0"/>
              <a:t>17/03/2025</a:t>
            </a:fld>
            <a:endParaRPr lang="es-ES"/>
          </a:p>
        </p:txBody>
      </p:sp>
      <p:sp>
        <p:nvSpPr>
          <p:cNvPr id="5" name="Marcador de pie de página 4">
            <a:extLst>
              <a:ext uri="{FF2B5EF4-FFF2-40B4-BE49-F238E27FC236}">
                <a16:creationId xmlns:a16="http://schemas.microsoft.com/office/drawing/2014/main" id="{F02BCB0D-81E8-41CD-B601-12AC55E80CCF}"/>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FA667C8C-33F3-4471-9705-E4210D3C358A}"/>
              </a:ext>
            </a:extLst>
          </p:cNvPr>
          <p:cNvSpPr>
            <a:spLocks noGrp="1"/>
          </p:cNvSpPr>
          <p:nvPr>
            <p:ph type="sldNum" sz="quarter" idx="12"/>
          </p:nvPr>
        </p:nvSpPr>
        <p:spPr/>
        <p:txBody>
          <a:bodyPr/>
          <a:lstStyle/>
          <a:p>
            <a:fld id="{4856EA4C-A6FD-42A4-AA1A-820741AF2301}" type="slidenum">
              <a:rPr lang="es-ES" smtClean="0"/>
              <a:t>‹Nº›</a:t>
            </a:fld>
            <a:endParaRPr lang="es-ES"/>
          </a:p>
        </p:txBody>
      </p:sp>
    </p:spTree>
    <p:extLst>
      <p:ext uri="{BB962C8B-B14F-4D97-AF65-F5344CB8AC3E}">
        <p14:creationId xmlns:p14="http://schemas.microsoft.com/office/powerpoint/2010/main" val="1510442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564523CC-F867-436B-B5EF-6666E5740B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719FA62B-C2EC-4259-9191-6B016BB55C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153005B9-1338-4DC3-A814-07B7CB81FF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6774D8-452A-4CAB-AAAB-35D1F6C7AC2D}" type="datetimeFigureOut">
              <a:rPr lang="es-ES" smtClean="0"/>
              <a:t>17/03/2025</a:t>
            </a:fld>
            <a:endParaRPr lang="es-ES"/>
          </a:p>
        </p:txBody>
      </p:sp>
      <p:sp>
        <p:nvSpPr>
          <p:cNvPr id="5" name="Marcador de pie de página 4">
            <a:extLst>
              <a:ext uri="{FF2B5EF4-FFF2-40B4-BE49-F238E27FC236}">
                <a16:creationId xmlns:a16="http://schemas.microsoft.com/office/drawing/2014/main" id="{57C42292-2F42-4A05-B4DE-3542321E64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C1B80AE1-E8BC-49B2-8A1E-34B1A0C7F4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56EA4C-A6FD-42A4-AA1A-820741AF2301}" type="slidenum">
              <a:rPr lang="es-ES" smtClean="0"/>
              <a:t>‹Nº›</a:t>
            </a:fld>
            <a:endParaRPr lang="es-ES"/>
          </a:p>
        </p:txBody>
      </p:sp>
    </p:spTree>
    <p:extLst>
      <p:ext uri="{BB962C8B-B14F-4D97-AF65-F5344CB8AC3E}">
        <p14:creationId xmlns:p14="http://schemas.microsoft.com/office/powerpoint/2010/main" val="32405125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github.com/CSSEGISandData/COVID-19"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26BB5B-CB7E-4E0A-955B-3A4DDBA287CD}"/>
              </a:ext>
            </a:extLst>
          </p:cNvPr>
          <p:cNvSpPr>
            <a:spLocks noGrp="1"/>
          </p:cNvSpPr>
          <p:nvPr>
            <p:ph type="ctrTitle"/>
          </p:nvPr>
        </p:nvSpPr>
        <p:spPr/>
        <p:txBody>
          <a:bodyPr>
            <a:normAutofit/>
          </a:bodyPr>
          <a:lstStyle/>
          <a:p>
            <a:r>
              <a:rPr lang="es-ES" dirty="0"/>
              <a:t>SOM( </a:t>
            </a:r>
            <a:r>
              <a:rPr lang="es-ES" dirty="0" err="1"/>
              <a:t>Self</a:t>
            </a:r>
            <a:r>
              <a:rPr lang="es-ES" dirty="0"/>
              <a:t> </a:t>
            </a:r>
            <a:r>
              <a:rPr lang="es-ES" dirty="0" err="1"/>
              <a:t>Organizating</a:t>
            </a:r>
            <a:r>
              <a:rPr lang="es-ES" dirty="0"/>
              <a:t> </a:t>
            </a:r>
            <a:r>
              <a:rPr lang="es-ES" dirty="0" err="1"/>
              <a:t>Map</a:t>
            </a:r>
            <a:r>
              <a:rPr lang="es-ES" dirty="0"/>
              <a:t>)</a:t>
            </a:r>
            <a:br>
              <a:rPr lang="es-ES" dirty="0"/>
            </a:br>
            <a:r>
              <a:rPr lang="es-ES" dirty="0"/>
              <a:t>Ejemplo COVID</a:t>
            </a:r>
          </a:p>
        </p:txBody>
      </p:sp>
    </p:spTree>
    <p:extLst>
      <p:ext uri="{BB962C8B-B14F-4D97-AF65-F5344CB8AC3E}">
        <p14:creationId xmlns:p14="http://schemas.microsoft.com/office/powerpoint/2010/main" val="41455562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0A7878-D6CC-40BC-B40E-9D26BCD321A2}"/>
              </a:ext>
            </a:extLst>
          </p:cNvPr>
          <p:cNvSpPr>
            <a:spLocks noGrp="1"/>
          </p:cNvSpPr>
          <p:nvPr>
            <p:ph type="title"/>
          </p:nvPr>
        </p:nvSpPr>
        <p:spPr>
          <a:xfrm>
            <a:off x="552450" y="0"/>
            <a:ext cx="10515600" cy="1325563"/>
          </a:xfrm>
        </p:spPr>
        <p:txBody>
          <a:bodyPr/>
          <a:lstStyle/>
          <a:p>
            <a:r>
              <a:rPr lang="es-ES" b="1" dirty="0" err="1"/>
              <a:t>Dataset</a:t>
            </a:r>
            <a:endParaRPr lang="es-ES" b="1" dirty="0"/>
          </a:p>
        </p:txBody>
      </p:sp>
      <p:sp>
        <p:nvSpPr>
          <p:cNvPr id="3" name="Marcador de contenido 2">
            <a:extLst>
              <a:ext uri="{FF2B5EF4-FFF2-40B4-BE49-F238E27FC236}">
                <a16:creationId xmlns:a16="http://schemas.microsoft.com/office/drawing/2014/main" id="{0A650242-FE92-4AC9-81B1-8E812194D601}"/>
              </a:ext>
            </a:extLst>
          </p:cNvPr>
          <p:cNvSpPr>
            <a:spLocks noGrp="1"/>
          </p:cNvSpPr>
          <p:nvPr>
            <p:ph idx="1"/>
          </p:nvPr>
        </p:nvSpPr>
        <p:spPr>
          <a:xfrm>
            <a:off x="552450" y="1397000"/>
            <a:ext cx="11639550" cy="5461000"/>
          </a:xfrm>
        </p:spPr>
        <p:txBody>
          <a:bodyPr>
            <a:normAutofit/>
          </a:bodyPr>
          <a:lstStyle/>
          <a:p>
            <a:pPr marL="0" indent="0">
              <a:buNone/>
            </a:pPr>
            <a:r>
              <a:rPr lang="es-ES" dirty="0">
                <a:effectLst/>
                <a:latin typeface="Calibri" panose="020F0502020204030204" pitchFamily="34" charset="0"/>
                <a:ea typeface="Calibri" panose="020F0502020204030204" pitchFamily="34" charset="0"/>
                <a:cs typeface="Times New Roman" panose="02020603050405020304" pitchFamily="18" charset="0"/>
              </a:rPr>
              <a:t>(“COVID-19 Data </a:t>
            </a:r>
            <a:r>
              <a:rPr lang="es-ES" dirty="0" err="1">
                <a:effectLst/>
                <a:latin typeface="Calibri" panose="020F0502020204030204" pitchFamily="34" charset="0"/>
                <a:ea typeface="Calibri" panose="020F0502020204030204" pitchFamily="34" charset="0"/>
                <a:cs typeface="Times New Roman" panose="02020603050405020304" pitchFamily="18" charset="0"/>
              </a:rPr>
              <a:t>Repository</a:t>
            </a:r>
            <a:r>
              <a:rPr lang="es-ES" dirty="0">
                <a:effectLst/>
                <a:latin typeface="Calibri" panose="020F0502020204030204" pitchFamily="34" charset="0"/>
                <a:ea typeface="Calibri" panose="020F0502020204030204" pitchFamily="34" charset="0"/>
                <a:cs typeface="Times New Roman" panose="02020603050405020304" pitchFamily="18" charset="0"/>
              </a:rPr>
              <a:t> </a:t>
            </a:r>
            <a:r>
              <a:rPr lang="es-ES" dirty="0" err="1">
                <a:effectLst/>
                <a:latin typeface="Calibri" panose="020F0502020204030204" pitchFamily="34" charset="0"/>
                <a:ea typeface="Calibri" panose="020F0502020204030204" pitchFamily="34" charset="0"/>
                <a:cs typeface="Times New Roman" panose="02020603050405020304" pitchFamily="18" charset="0"/>
              </a:rPr>
              <a:t>by</a:t>
            </a:r>
            <a:r>
              <a:rPr lang="es-ES" dirty="0">
                <a:effectLst/>
                <a:latin typeface="Calibri" panose="020F0502020204030204" pitchFamily="34" charset="0"/>
                <a:ea typeface="Calibri" panose="020F0502020204030204" pitchFamily="34" charset="0"/>
                <a:cs typeface="Times New Roman" panose="02020603050405020304" pitchFamily="18" charset="0"/>
              </a:rPr>
              <a:t> </a:t>
            </a:r>
            <a:r>
              <a:rPr lang="es-ES" dirty="0" err="1">
                <a:effectLst/>
                <a:latin typeface="Calibri" panose="020F0502020204030204" pitchFamily="34" charset="0"/>
                <a:ea typeface="Calibri" panose="020F0502020204030204" pitchFamily="34" charset="0"/>
                <a:cs typeface="Times New Roman" panose="02020603050405020304" pitchFamily="18" charset="0"/>
              </a:rPr>
              <a:t>the</a:t>
            </a:r>
            <a:r>
              <a:rPr lang="es-ES" dirty="0">
                <a:effectLst/>
                <a:latin typeface="Calibri" panose="020F0502020204030204" pitchFamily="34" charset="0"/>
                <a:ea typeface="Calibri" panose="020F0502020204030204" pitchFamily="34" charset="0"/>
                <a:cs typeface="Times New Roman" panose="02020603050405020304" pitchFamily="18" charset="0"/>
              </a:rPr>
              <a:t> Center </a:t>
            </a:r>
            <a:r>
              <a:rPr lang="es-ES" dirty="0" err="1">
                <a:effectLst/>
                <a:latin typeface="Calibri" panose="020F0502020204030204" pitchFamily="34" charset="0"/>
                <a:ea typeface="Calibri" panose="020F0502020204030204" pitchFamily="34" charset="0"/>
                <a:cs typeface="Times New Roman" panose="02020603050405020304" pitchFamily="18" charset="0"/>
              </a:rPr>
              <a:t>for</a:t>
            </a:r>
            <a:r>
              <a:rPr lang="es-ES" dirty="0">
                <a:effectLst/>
                <a:latin typeface="Calibri" panose="020F0502020204030204" pitchFamily="34" charset="0"/>
                <a:ea typeface="Calibri" panose="020F0502020204030204" pitchFamily="34" charset="0"/>
                <a:cs typeface="Times New Roman" panose="02020603050405020304" pitchFamily="18" charset="0"/>
              </a:rPr>
              <a:t> </a:t>
            </a:r>
            <a:r>
              <a:rPr lang="es-ES" dirty="0" err="1">
                <a:effectLst/>
                <a:latin typeface="Calibri" panose="020F0502020204030204" pitchFamily="34" charset="0"/>
                <a:ea typeface="Calibri" panose="020F0502020204030204" pitchFamily="34" charset="0"/>
                <a:cs typeface="Times New Roman" panose="02020603050405020304" pitchFamily="18" charset="0"/>
              </a:rPr>
              <a:t>Systems</a:t>
            </a:r>
            <a:r>
              <a:rPr lang="es-ES" dirty="0">
                <a:effectLst/>
                <a:latin typeface="Calibri" panose="020F0502020204030204" pitchFamily="34" charset="0"/>
                <a:ea typeface="Calibri" panose="020F0502020204030204" pitchFamily="34" charset="0"/>
                <a:cs typeface="Times New Roman" panose="02020603050405020304" pitchFamily="18" charset="0"/>
              </a:rPr>
              <a:t> </a:t>
            </a:r>
            <a:r>
              <a:rPr lang="es-ES" dirty="0" err="1">
                <a:effectLst/>
                <a:latin typeface="Calibri" panose="020F0502020204030204" pitchFamily="34" charset="0"/>
                <a:ea typeface="Calibri" panose="020F0502020204030204" pitchFamily="34" charset="0"/>
                <a:cs typeface="Times New Roman" panose="02020603050405020304" pitchFamily="18" charset="0"/>
              </a:rPr>
              <a:t>Science</a:t>
            </a:r>
            <a:r>
              <a:rPr lang="es-ES" dirty="0">
                <a:effectLst/>
                <a:latin typeface="Calibri" panose="020F0502020204030204" pitchFamily="34" charset="0"/>
                <a:ea typeface="Calibri" panose="020F0502020204030204" pitchFamily="34" charset="0"/>
                <a:cs typeface="Times New Roman" panose="02020603050405020304" pitchFamily="18" charset="0"/>
              </a:rPr>
              <a:t> and </a:t>
            </a:r>
            <a:r>
              <a:rPr lang="es-ES" dirty="0" err="1">
                <a:effectLst/>
                <a:latin typeface="Calibri" panose="020F0502020204030204" pitchFamily="34" charset="0"/>
                <a:ea typeface="Calibri" panose="020F0502020204030204" pitchFamily="34" charset="0"/>
                <a:cs typeface="Times New Roman" panose="02020603050405020304" pitchFamily="18" charset="0"/>
              </a:rPr>
              <a:t>Engineering</a:t>
            </a:r>
            <a:r>
              <a:rPr lang="es-ES" dirty="0">
                <a:effectLst/>
                <a:latin typeface="Calibri" panose="020F0502020204030204" pitchFamily="34" charset="0"/>
                <a:ea typeface="Calibri" panose="020F0502020204030204" pitchFamily="34" charset="0"/>
                <a:cs typeface="Times New Roman" panose="02020603050405020304" pitchFamily="18" charset="0"/>
              </a:rPr>
              <a:t> (CSSE) at Johns Hopkins </a:t>
            </a:r>
            <a:r>
              <a:rPr lang="es-ES" dirty="0" err="1">
                <a:effectLst/>
                <a:latin typeface="Calibri" panose="020F0502020204030204" pitchFamily="34" charset="0"/>
                <a:ea typeface="Calibri" panose="020F0502020204030204" pitchFamily="34" charset="0"/>
                <a:cs typeface="Times New Roman" panose="02020603050405020304" pitchFamily="18" charset="0"/>
              </a:rPr>
              <a:t>University</a:t>
            </a:r>
            <a:r>
              <a:rPr lang="es-ES" dirty="0">
                <a:effectLst/>
                <a:latin typeface="Calibri" panose="020F0502020204030204" pitchFamily="34" charset="0"/>
                <a:ea typeface="Calibri" panose="020F0502020204030204" pitchFamily="34" charset="0"/>
                <a:cs typeface="Times New Roman" panose="02020603050405020304" pitchFamily="18" charset="0"/>
              </a:rPr>
              <a:t>”) en </a:t>
            </a:r>
            <a:r>
              <a:rPr lang="es-ES" dirty="0">
                <a:effectLst/>
                <a:latin typeface="Calibri" panose="020F0502020204030204" pitchFamily="34" charset="0"/>
                <a:ea typeface="Calibri" panose="020F0502020204030204" pitchFamily="34" charset="0"/>
                <a:cs typeface="Times New Roman" panose="02020603050405020304" pitchFamily="18" charset="0"/>
                <a:hlinkClick r:id="rId2"/>
              </a:rPr>
              <a:t>https://github.com/CSSEGISandData/COVID-19</a:t>
            </a:r>
            <a:endParaRPr lang="es-ES"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s-ES" dirty="0">
                <a:effectLst/>
                <a:latin typeface="Calibri" panose="020F0502020204030204" pitchFamily="34" charset="0"/>
                <a:ea typeface="Calibri" panose="020F0502020204030204" pitchFamily="34" charset="0"/>
                <a:cs typeface="Times New Roman" panose="02020603050405020304" pitchFamily="18" charset="0"/>
              </a:rPr>
              <a:t> a fecha de 6 de Julio de 2020</a:t>
            </a:r>
          </a:p>
          <a:p>
            <a:pPr marL="0" indent="0">
              <a:buNone/>
            </a:pPr>
            <a:r>
              <a:rPr lang="es-ES" sz="1800" dirty="0">
                <a:effectLst/>
                <a:latin typeface="Calibri" panose="020F0502020204030204" pitchFamily="34" charset="0"/>
                <a:ea typeface="Calibri" panose="020F0502020204030204" pitchFamily="34" charset="0"/>
                <a:cs typeface="Times New Roman" panose="02020603050405020304" pitchFamily="18" charset="0"/>
              </a:rPr>
              <a:t>34 columnas con información de diferentes indicadores para cada uno de los países entre el 31 de Diciembre de 2019 y el 5 de Julio de 2020.</a:t>
            </a:r>
          </a:p>
          <a:p>
            <a:pPr marL="0" indent="0">
              <a:buNone/>
            </a:pPr>
            <a:r>
              <a:rPr lang="es-ES" sz="1800" dirty="0">
                <a:effectLst/>
                <a:latin typeface="Calibri" panose="020F0502020204030204" pitchFamily="34" charset="0"/>
                <a:ea typeface="Calibri" panose="020F0502020204030204" pitchFamily="34" charset="0"/>
                <a:cs typeface="Times New Roman" panose="02020603050405020304" pitchFamily="18" charset="0"/>
              </a:rPr>
              <a:t> Las primeras cuatro variables del conjunto de datos corresponden al código ISO del país, el continente, el nombre del país y la fecha.</a:t>
            </a:r>
          </a:p>
          <a:p>
            <a:pPr marL="0" indent="0">
              <a:buNone/>
            </a:pPr>
            <a:r>
              <a:rPr lang="es-ES" sz="1800" dirty="0">
                <a:effectLst/>
                <a:latin typeface="Calibri" panose="020F0502020204030204" pitchFamily="34" charset="0"/>
                <a:ea typeface="Calibri" panose="020F0502020204030204" pitchFamily="34" charset="0"/>
                <a:cs typeface="Times New Roman" panose="02020603050405020304" pitchFamily="18" charset="0"/>
              </a:rPr>
              <a:t> A continuación, se dispone de algunas variables relativas a la evolución de la pandemia como son el número de casos confirmados, fallecidos y </a:t>
            </a:r>
            <a:r>
              <a:rPr lang="es-ES" sz="1800" dirty="0" err="1">
                <a:effectLst/>
                <a:latin typeface="Calibri" panose="020F0502020204030204" pitchFamily="34" charset="0"/>
                <a:ea typeface="Calibri" panose="020F0502020204030204" pitchFamily="34" charset="0"/>
                <a:cs typeface="Times New Roman" panose="02020603050405020304" pitchFamily="18" charset="0"/>
              </a:rPr>
              <a:t>tests</a:t>
            </a:r>
            <a:r>
              <a:rPr lang="es-ES" sz="1800" dirty="0">
                <a:effectLst/>
                <a:latin typeface="Calibri" panose="020F0502020204030204" pitchFamily="34" charset="0"/>
                <a:ea typeface="Calibri" panose="020F0502020204030204" pitchFamily="34" charset="0"/>
                <a:cs typeface="Times New Roman" panose="02020603050405020304" pitchFamily="18" charset="0"/>
              </a:rPr>
              <a:t> realizados de forma acumulada y diaria tanto en términos absolutos como por millón de habitantes.</a:t>
            </a:r>
          </a:p>
          <a:p>
            <a:pPr marL="0" indent="0">
              <a:buNone/>
            </a:pPr>
            <a:r>
              <a:rPr lang="es-ES" sz="1800" dirty="0">
                <a:effectLst/>
                <a:latin typeface="Calibri" panose="020F0502020204030204" pitchFamily="34" charset="0"/>
                <a:ea typeface="Calibri" panose="020F0502020204030204" pitchFamily="34" charset="0"/>
                <a:cs typeface="Times New Roman" panose="02020603050405020304" pitchFamily="18" charset="0"/>
              </a:rPr>
              <a:t> Por último, se incluyen algunas variables socioeconómicas de los países no relacionadas con la pandemia como pueden ser los habitantes, la esperanza de vida, la edad media, el PIB..., que en esta aplicación no serán utilizada.</a:t>
            </a:r>
          </a:p>
          <a:p>
            <a:pPr marL="0" indent="0">
              <a:buNone/>
            </a:pPr>
            <a:endParaRPr lang="es-ES" dirty="0"/>
          </a:p>
        </p:txBody>
      </p:sp>
    </p:spTree>
    <p:extLst>
      <p:ext uri="{BB962C8B-B14F-4D97-AF65-F5344CB8AC3E}">
        <p14:creationId xmlns:p14="http://schemas.microsoft.com/office/powerpoint/2010/main" val="6761151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F69146-9422-4D16-BE13-ABF2D99B8C82}"/>
              </a:ext>
            </a:extLst>
          </p:cNvPr>
          <p:cNvSpPr>
            <a:spLocks noGrp="1"/>
          </p:cNvSpPr>
          <p:nvPr>
            <p:ph type="title"/>
          </p:nvPr>
        </p:nvSpPr>
        <p:spPr/>
        <p:txBody>
          <a:bodyPr/>
          <a:lstStyle/>
          <a:p>
            <a:r>
              <a:rPr lang="es-ES" b="1" dirty="0"/>
              <a:t>Datos preprocesados</a:t>
            </a:r>
          </a:p>
        </p:txBody>
      </p:sp>
      <p:sp>
        <p:nvSpPr>
          <p:cNvPr id="3" name="Marcador de contenido 2">
            <a:extLst>
              <a:ext uri="{FF2B5EF4-FFF2-40B4-BE49-F238E27FC236}">
                <a16:creationId xmlns:a16="http://schemas.microsoft.com/office/drawing/2014/main" id="{3553EF12-208B-4410-BC98-3729D9D2EDDC}"/>
              </a:ext>
            </a:extLst>
          </p:cNvPr>
          <p:cNvSpPr>
            <a:spLocks noGrp="1"/>
          </p:cNvSpPr>
          <p:nvPr>
            <p:ph idx="1"/>
          </p:nvPr>
        </p:nvSpPr>
        <p:spPr/>
        <p:txBody>
          <a:bodyPr>
            <a:noAutofit/>
          </a:bodyPr>
          <a:lstStyle/>
          <a:p>
            <a:r>
              <a:rPr lang="es-ES" sz="3200" dirty="0">
                <a:effectLst/>
                <a:latin typeface="Calibri" panose="020F0502020204030204" pitchFamily="34" charset="0"/>
                <a:ea typeface="Calibri" panose="020F0502020204030204" pitchFamily="34" charset="0"/>
                <a:cs typeface="Times New Roman" panose="02020603050405020304" pitchFamily="18" charset="0"/>
              </a:rPr>
              <a:t>Para la construcción de un SOM se ha elegido como variable de interés el número de casos diarios por millón de habitantes para cada país. </a:t>
            </a:r>
          </a:p>
          <a:p>
            <a:r>
              <a:rPr lang="es-ES" sz="3200" dirty="0">
                <a:latin typeface="Calibri" panose="020F0502020204030204" pitchFamily="34" charset="0"/>
                <a:ea typeface="Calibri" panose="020F0502020204030204" pitchFamily="34" charset="0"/>
                <a:cs typeface="Times New Roman" panose="02020603050405020304" pitchFamily="18" charset="0"/>
              </a:rPr>
              <a:t>Se</a:t>
            </a:r>
            <a:r>
              <a:rPr lang="es-ES" sz="3200" dirty="0">
                <a:effectLst/>
                <a:latin typeface="Calibri" panose="020F0502020204030204" pitchFamily="34" charset="0"/>
                <a:ea typeface="Calibri" panose="020F0502020204030204" pitchFamily="34" charset="0"/>
                <a:cs typeface="Times New Roman" panose="02020603050405020304" pitchFamily="18" charset="0"/>
              </a:rPr>
              <a:t> trata el conjunto de datos original en el que cada registro corresponde a cada uno de los días para cada uno de los países y pasar a un conjunto de datos en el que cada fila corresponda únicamente a un país y las columnas sean el valor de la variable elegida para cada uno de los días,</a:t>
            </a:r>
          </a:p>
        </p:txBody>
      </p:sp>
    </p:spTree>
    <p:extLst>
      <p:ext uri="{BB962C8B-B14F-4D97-AF65-F5344CB8AC3E}">
        <p14:creationId xmlns:p14="http://schemas.microsoft.com/office/powerpoint/2010/main" val="3102647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a:extLst>
              <a:ext uri="{FF2B5EF4-FFF2-40B4-BE49-F238E27FC236}">
                <a16:creationId xmlns:a16="http://schemas.microsoft.com/office/drawing/2014/main" id="{E8F50631-3F4C-46F2-8909-3A509FBEF6E9}"/>
              </a:ext>
            </a:extLst>
          </p:cNvPr>
          <p:cNvSpPr>
            <a:spLocks noGrp="1"/>
          </p:cNvSpPr>
          <p:nvPr>
            <p:ph type="subTitle" idx="1"/>
          </p:nvPr>
        </p:nvSpPr>
        <p:spPr>
          <a:xfrm>
            <a:off x="819150" y="687388"/>
            <a:ext cx="9144000" cy="1655762"/>
          </a:xfrm>
        </p:spPr>
        <p:txBody>
          <a:bodyPr>
            <a:normAutofit/>
          </a:bodyPr>
          <a:lstStyle/>
          <a:p>
            <a:r>
              <a:rPr lang="es-ES" sz="4000" b="1" dirty="0"/>
              <a:t>Datos para el entrenamiento de la red</a:t>
            </a:r>
          </a:p>
        </p:txBody>
      </p:sp>
      <p:sp>
        <p:nvSpPr>
          <p:cNvPr id="5" name="CuadroTexto 4">
            <a:extLst>
              <a:ext uri="{FF2B5EF4-FFF2-40B4-BE49-F238E27FC236}">
                <a16:creationId xmlns:a16="http://schemas.microsoft.com/office/drawing/2014/main" id="{A55AB69B-AF25-4FC3-8BBC-D9D42D951C12}"/>
              </a:ext>
            </a:extLst>
          </p:cNvPr>
          <p:cNvSpPr txBox="1"/>
          <p:nvPr/>
        </p:nvSpPr>
        <p:spPr>
          <a:xfrm>
            <a:off x="1333500" y="1857375"/>
            <a:ext cx="10515600" cy="3170099"/>
          </a:xfrm>
          <a:prstGeom prst="rect">
            <a:avLst/>
          </a:prstGeom>
          <a:noFill/>
        </p:spPr>
        <p:txBody>
          <a:bodyPr wrap="square">
            <a:spAutoFit/>
          </a:bodyPr>
          <a:lstStyle/>
          <a:p>
            <a:pPr marL="0" indent="0" algn="just">
              <a:buNone/>
            </a:pPr>
            <a:r>
              <a:rPr lang="es-ES" sz="4000" dirty="0">
                <a:effectLst/>
                <a:latin typeface="Calibri" panose="020F0502020204030204" pitchFamily="34" charset="0"/>
                <a:ea typeface="Calibri" panose="020F0502020204030204" pitchFamily="34" charset="0"/>
                <a:cs typeface="Times New Roman" panose="02020603050405020304" pitchFamily="18" charset="0"/>
              </a:rPr>
              <a:t>Finalmente se dispondrá de un conjunto de datos formado por 209 observaciones y 178 columnas, de las cuales las dos primeras corresponden al código ISO y al nombre del país y el resto a los datos de la variable</a:t>
            </a:r>
            <a:endParaRPr lang="es-ES" sz="4000" dirty="0"/>
          </a:p>
        </p:txBody>
      </p:sp>
    </p:spTree>
    <p:extLst>
      <p:ext uri="{BB962C8B-B14F-4D97-AF65-F5344CB8AC3E}">
        <p14:creationId xmlns:p14="http://schemas.microsoft.com/office/powerpoint/2010/main" val="3915125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B5852D-DD37-4581-B3D0-8270188FD8C2}"/>
              </a:ext>
            </a:extLst>
          </p:cNvPr>
          <p:cNvSpPr>
            <a:spLocks noGrp="1"/>
          </p:cNvSpPr>
          <p:nvPr>
            <p:ph type="title"/>
          </p:nvPr>
        </p:nvSpPr>
        <p:spPr>
          <a:xfrm>
            <a:off x="581025" y="0"/>
            <a:ext cx="10515600" cy="1325563"/>
          </a:xfrm>
        </p:spPr>
        <p:txBody>
          <a:bodyPr/>
          <a:lstStyle/>
          <a:p>
            <a:r>
              <a:rPr lang="es-ES" b="1" dirty="0">
                <a:latin typeface="+mn-lt"/>
              </a:rPr>
              <a:t>SOM (diseño)</a:t>
            </a:r>
          </a:p>
        </p:txBody>
      </p:sp>
      <p:sp>
        <p:nvSpPr>
          <p:cNvPr id="3" name="Marcador de contenido 2">
            <a:extLst>
              <a:ext uri="{FF2B5EF4-FFF2-40B4-BE49-F238E27FC236}">
                <a16:creationId xmlns:a16="http://schemas.microsoft.com/office/drawing/2014/main" id="{8AFE66CA-BA75-4E76-B9CE-5E484E89F82D}"/>
              </a:ext>
            </a:extLst>
          </p:cNvPr>
          <p:cNvSpPr>
            <a:spLocks noGrp="1"/>
          </p:cNvSpPr>
          <p:nvPr>
            <p:ph idx="1"/>
          </p:nvPr>
        </p:nvSpPr>
        <p:spPr>
          <a:xfrm>
            <a:off x="581025" y="968375"/>
            <a:ext cx="10515600" cy="4351338"/>
          </a:xfrm>
        </p:spPr>
        <p:txBody>
          <a:bodyPr/>
          <a:lstStyle/>
          <a:p>
            <a:pPr marL="0" indent="0">
              <a:buNone/>
            </a:pPr>
            <a:r>
              <a:rPr lang="es-ES" sz="3200" dirty="0">
                <a:effectLst/>
                <a:latin typeface="Calibri" panose="020F0502020204030204" pitchFamily="34" charset="0"/>
                <a:ea typeface="Calibri" panose="020F0502020204030204" pitchFamily="34" charset="0"/>
                <a:cs typeface="Times New Roman" panose="02020603050405020304" pitchFamily="18" charset="0"/>
              </a:rPr>
              <a:t>se construirá el mapa de tamaño 9 × 8 con las neuronas en disposición hexagonal.</a:t>
            </a:r>
          </a:p>
          <a:p>
            <a:pPr marL="0" indent="0">
              <a:buNone/>
            </a:pPr>
            <a:endParaRPr lang="es-ES" dirty="0"/>
          </a:p>
        </p:txBody>
      </p:sp>
      <p:pic>
        <p:nvPicPr>
          <p:cNvPr id="4" name="Imagen 3">
            <a:extLst>
              <a:ext uri="{FF2B5EF4-FFF2-40B4-BE49-F238E27FC236}">
                <a16:creationId xmlns:a16="http://schemas.microsoft.com/office/drawing/2014/main" id="{CC4969EA-3152-4E7B-8994-4BA7C3783FAD}"/>
              </a:ext>
            </a:extLst>
          </p:cNvPr>
          <p:cNvPicPr/>
          <p:nvPr/>
        </p:nvPicPr>
        <p:blipFill>
          <a:blip r:embed="rId2"/>
          <a:stretch>
            <a:fillRect/>
          </a:stretch>
        </p:blipFill>
        <p:spPr>
          <a:xfrm>
            <a:off x="2114550" y="1819275"/>
            <a:ext cx="8172450" cy="5038725"/>
          </a:xfrm>
          <a:prstGeom prst="rect">
            <a:avLst/>
          </a:prstGeom>
        </p:spPr>
      </p:pic>
    </p:spTree>
    <p:extLst>
      <p:ext uri="{BB962C8B-B14F-4D97-AF65-F5344CB8AC3E}">
        <p14:creationId xmlns:p14="http://schemas.microsoft.com/office/powerpoint/2010/main" val="25447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39E00FE-864B-447C-AECE-A796C0F44AF8}"/>
              </a:ext>
            </a:extLst>
          </p:cNvPr>
          <p:cNvSpPr>
            <a:spLocks noGrp="1"/>
          </p:cNvSpPr>
          <p:nvPr>
            <p:ph idx="1"/>
          </p:nvPr>
        </p:nvSpPr>
        <p:spPr>
          <a:xfrm>
            <a:off x="390525" y="253206"/>
            <a:ext cx="10515600" cy="4351338"/>
          </a:xfrm>
        </p:spPr>
        <p:txBody>
          <a:bodyPr>
            <a:normAutofit/>
          </a:bodyPr>
          <a:lstStyle/>
          <a:p>
            <a:pPr marL="0" indent="0">
              <a:buNone/>
            </a:pPr>
            <a:r>
              <a:rPr lang="es-ES" dirty="0">
                <a:effectLst/>
                <a:latin typeface="Calibri" panose="020F0502020204030204" pitchFamily="34" charset="0"/>
                <a:ea typeface="Calibri" panose="020F0502020204030204" pitchFamily="34" charset="0"/>
                <a:cs typeface="Times New Roman" panose="02020603050405020304" pitchFamily="18" charset="0"/>
              </a:rPr>
              <a:t>Una vez construido el mapa, se pueden agrupar las neuronas en un menor número de grupos, pasando de las 72 a un número escogido aplicando </a:t>
            </a:r>
            <a:r>
              <a:rPr lang="es-ES" dirty="0" err="1">
                <a:effectLst/>
                <a:latin typeface="Calibri" panose="020F0502020204030204" pitchFamily="34" charset="0"/>
                <a:ea typeface="Calibri" panose="020F0502020204030204" pitchFamily="34" charset="0"/>
                <a:cs typeface="Times New Roman" panose="02020603050405020304" pitchFamily="18" charset="0"/>
              </a:rPr>
              <a:t>clustering</a:t>
            </a:r>
            <a:r>
              <a:rPr lang="es-ES" dirty="0">
                <a:effectLst/>
                <a:latin typeface="Calibri" panose="020F0502020204030204" pitchFamily="34" charset="0"/>
                <a:ea typeface="Calibri" panose="020F0502020204030204" pitchFamily="34" charset="0"/>
                <a:cs typeface="Times New Roman" panose="02020603050405020304" pitchFamily="18" charset="0"/>
              </a:rPr>
              <a:t> jerárquico siguiendo el criterio de Ward </a:t>
            </a:r>
          </a:p>
          <a:p>
            <a:pPr marL="0" indent="0">
              <a:buNone/>
            </a:pPr>
            <a:endParaRPr lang="es-ES" sz="3200" dirty="0"/>
          </a:p>
        </p:txBody>
      </p:sp>
      <p:pic>
        <p:nvPicPr>
          <p:cNvPr id="4" name="Imagen 3">
            <a:extLst>
              <a:ext uri="{FF2B5EF4-FFF2-40B4-BE49-F238E27FC236}">
                <a16:creationId xmlns:a16="http://schemas.microsoft.com/office/drawing/2014/main" id="{1C08F64E-0D4C-4B93-BBD6-0F3D427CECAB}"/>
              </a:ext>
            </a:extLst>
          </p:cNvPr>
          <p:cNvPicPr/>
          <p:nvPr/>
        </p:nvPicPr>
        <p:blipFill>
          <a:blip r:embed="rId2"/>
          <a:stretch>
            <a:fillRect/>
          </a:stretch>
        </p:blipFill>
        <p:spPr>
          <a:xfrm>
            <a:off x="1152525" y="1628775"/>
            <a:ext cx="9934575" cy="4810125"/>
          </a:xfrm>
          <a:prstGeom prst="rect">
            <a:avLst/>
          </a:prstGeom>
        </p:spPr>
      </p:pic>
    </p:spTree>
    <p:extLst>
      <p:ext uri="{BB962C8B-B14F-4D97-AF65-F5344CB8AC3E}">
        <p14:creationId xmlns:p14="http://schemas.microsoft.com/office/powerpoint/2010/main" val="233270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a:extLst>
              <a:ext uri="{FF2B5EF4-FFF2-40B4-BE49-F238E27FC236}">
                <a16:creationId xmlns:a16="http://schemas.microsoft.com/office/drawing/2014/main" id="{EF46C31D-550D-47C7-AC90-FBDA3DD793B1}"/>
              </a:ext>
            </a:extLst>
          </p:cNvPr>
          <p:cNvSpPr>
            <a:spLocks noGrp="1"/>
          </p:cNvSpPr>
          <p:nvPr>
            <p:ph type="subTitle" idx="1"/>
          </p:nvPr>
        </p:nvSpPr>
        <p:spPr>
          <a:xfrm>
            <a:off x="533399" y="592138"/>
            <a:ext cx="11344275" cy="1655762"/>
          </a:xfrm>
        </p:spPr>
        <p:txBody>
          <a:bodyPr>
            <a:normAutofit/>
          </a:bodyPr>
          <a:lstStyle/>
          <a:p>
            <a:r>
              <a:rPr lang="es-ES" sz="4000" dirty="0">
                <a:effectLst/>
                <a:latin typeface="Calibri" panose="020F0502020204030204" pitchFamily="34" charset="0"/>
                <a:ea typeface="Calibri" panose="020F0502020204030204" pitchFamily="34" charset="0"/>
                <a:cs typeface="Times New Roman" panose="02020603050405020304" pitchFamily="18" charset="0"/>
              </a:rPr>
              <a:t>En este caso se han escogido 7 grupos permitiendo agrupar las 72 neuronas del mapa en 7 clústeres </a:t>
            </a:r>
            <a:endParaRPr lang="es-ES" sz="4000" dirty="0"/>
          </a:p>
        </p:txBody>
      </p:sp>
      <p:pic>
        <p:nvPicPr>
          <p:cNvPr id="4" name="Imagen 3">
            <a:extLst>
              <a:ext uri="{FF2B5EF4-FFF2-40B4-BE49-F238E27FC236}">
                <a16:creationId xmlns:a16="http://schemas.microsoft.com/office/drawing/2014/main" id="{B7924946-8360-4D46-A548-0309F77C988E}"/>
              </a:ext>
            </a:extLst>
          </p:cNvPr>
          <p:cNvPicPr/>
          <p:nvPr/>
        </p:nvPicPr>
        <p:blipFill>
          <a:blip r:embed="rId2"/>
          <a:stretch>
            <a:fillRect/>
          </a:stretch>
        </p:blipFill>
        <p:spPr>
          <a:xfrm>
            <a:off x="2333626" y="1628775"/>
            <a:ext cx="8124824" cy="5229225"/>
          </a:xfrm>
          <a:prstGeom prst="rect">
            <a:avLst/>
          </a:prstGeom>
        </p:spPr>
      </p:pic>
    </p:spTree>
    <p:extLst>
      <p:ext uri="{BB962C8B-B14F-4D97-AF65-F5344CB8AC3E}">
        <p14:creationId xmlns:p14="http://schemas.microsoft.com/office/powerpoint/2010/main" val="39077151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a:extLst>
              <a:ext uri="{FF2B5EF4-FFF2-40B4-BE49-F238E27FC236}">
                <a16:creationId xmlns:a16="http://schemas.microsoft.com/office/drawing/2014/main" id="{9C2A3FB6-EC45-4BDB-98F6-D11731607A78}"/>
              </a:ext>
            </a:extLst>
          </p:cNvPr>
          <p:cNvPicPr>
            <a:picLocks noGrp="1"/>
          </p:cNvPicPr>
          <p:nvPr>
            <p:ph idx="1"/>
          </p:nvPr>
        </p:nvPicPr>
        <p:blipFill>
          <a:blip r:embed="rId2"/>
          <a:stretch>
            <a:fillRect/>
          </a:stretch>
        </p:blipFill>
        <p:spPr>
          <a:xfrm>
            <a:off x="876300" y="95250"/>
            <a:ext cx="10820400" cy="6762750"/>
          </a:xfrm>
          <a:prstGeom prst="rect">
            <a:avLst/>
          </a:prstGeom>
        </p:spPr>
      </p:pic>
    </p:spTree>
    <p:extLst>
      <p:ext uri="{BB962C8B-B14F-4D97-AF65-F5344CB8AC3E}">
        <p14:creationId xmlns:p14="http://schemas.microsoft.com/office/powerpoint/2010/main" val="4166710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26BB5B-CB7E-4E0A-955B-3A4DDBA287CD}"/>
              </a:ext>
            </a:extLst>
          </p:cNvPr>
          <p:cNvSpPr>
            <a:spLocks noGrp="1"/>
          </p:cNvSpPr>
          <p:nvPr>
            <p:ph type="ctrTitle"/>
          </p:nvPr>
        </p:nvSpPr>
        <p:spPr>
          <a:xfrm>
            <a:off x="542925" y="1122363"/>
            <a:ext cx="11229975" cy="2387600"/>
          </a:xfrm>
        </p:spPr>
        <p:txBody>
          <a:bodyPr>
            <a:normAutofit fontScale="90000"/>
          </a:bodyPr>
          <a:lstStyle/>
          <a:p>
            <a:r>
              <a:rPr lang="es-ES" dirty="0"/>
              <a:t>Ejemplo SOM( </a:t>
            </a:r>
            <a:r>
              <a:rPr lang="es-ES" dirty="0" err="1"/>
              <a:t>Self</a:t>
            </a:r>
            <a:r>
              <a:rPr lang="es-ES" dirty="0"/>
              <a:t> </a:t>
            </a:r>
            <a:r>
              <a:rPr lang="es-ES" dirty="0" err="1"/>
              <a:t>Organizating</a:t>
            </a:r>
            <a:r>
              <a:rPr lang="es-ES" dirty="0"/>
              <a:t> </a:t>
            </a:r>
            <a:r>
              <a:rPr lang="es-ES" dirty="0" err="1"/>
              <a:t>Map</a:t>
            </a:r>
            <a:r>
              <a:rPr lang="es-ES" dirty="0"/>
              <a:t>)</a:t>
            </a:r>
            <a:br>
              <a:rPr lang="es-ES" dirty="0"/>
            </a:br>
            <a:r>
              <a:rPr lang="en-GB" sz="3600" b="1" dirty="0">
                <a:effectLst/>
                <a:latin typeface="Calibri" panose="020F0502020204030204" pitchFamily="34" charset="0"/>
                <a:ea typeface="Calibri" panose="020F0502020204030204" pitchFamily="34" charset="0"/>
                <a:cs typeface="Times New Roman" panose="02020603050405020304" pitchFamily="18" charset="0"/>
              </a:rPr>
              <a:t>Neural Networks: A comprehensive Foundation, Simon </a:t>
            </a:r>
            <a:r>
              <a:rPr lang="en-GB" sz="3600" b="1" dirty="0" err="1">
                <a:effectLst/>
                <a:latin typeface="Calibri" panose="020F0502020204030204" pitchFamily="34" charset="0"/>
                <a:ea typeface="Calibri" panose="020F0502020204030204" pitchFamily="34" charset="0"/>
                <a:cs typeface="Times New Roman" panose="02020603050405020304" pitchFamily="18" charset="0"/>
              </a:rPr>
              <a:t>Haykin</a:t>
            </a:r>
            <a:br>
              <a:rPr lang="es-ES" sz="1800" dirty="0">
                <a:effectLst/>
                <a:latin typeface="Calibri" panose="020F0502020204030204" pitchFamily="34" charset="0"/>
                <a:ea typeface="Calibri" panose="020F0502020204030204" pitchFamily="34" charset="0"/>
                <a:cs typeface="Times New Roman" panose="02020603050405020304" pitchFamily="18" charset="0"/>
              </a:rPr>
            </a:br>
            <a:endParaRPr lang="es-ES" dirty="0"/>
          </a:p>
        </p:txBody>
      </p:sp>
    </p:spTree>
    <p:extLst>
      <p:ext uri="{BB962C8B-B14F-4D97-AF65-F5344CB8AC3E}">
        <p14:creationId xmlns:p14="http://schemas.microsoft.com/office/powerpoint/2010/main" val="401041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BCA2E0BB-38AA-422C-84E6-92A9F41DFBBF}"/>
              </a:ext>
            </a:extLst>
          </p:cNvPr>
          <p:cNvPicPr/>
          <p:nvPr/>
        </p:nvPicPr>
        <p:blipFill>
          <a:blip r:embed="rId2"/>
          <a:stretch>
            <a:fillRect/>
          </a:stretch>
        </p:blipFill>
        <p:spPr>
          <a:xfrm>
            <a:off x="981075" y="142875"/>
            <a:ext cx="10410825" cy="6429375"/>
          </a:xfrm>
          <a:prstGeom prst="rect">
            <a:avLst/>
          </a:prstGeom>
        </p:spPr>
      </p:pic>
    </p:spTree>
    <p:extLst>
      <p:ext uri="{BB962C8B-B14F-4D97-AF65-F5344CB8AC3E}">
        <p14:creationId xmlns:p14="http://schemas.microsoft.com/office/powerpoint/2010/main" val="35390675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FC6C63E8-6DC9-4DBE-AA01-C81C3624A128}"/>
                  </a:ext>
                </a:extLst>
              </p:cNvPr>
              <p:cNvSpPr>
                <a:spLocks noGrp="1"/>
              </p:cNvSpPr>
              <p:nvPr>
                <p:ph idx="1"/>
              </p:nvPr>
            </p:nvSpPr>
            <p:spPr>
              <a:xfrm>
                <a:off x="371474" y="206374"/>
                <a:ext cx="11458575" cy="6499225"/>
              </a:xfrm>
            </p:spPr>
            <p:txBody>
              <a:bodyPr/>
              <a:lstStyle/>
              <a:p>
                <a:r>
                  <a:rPr lang="es-ES" dirty="0">
                    <a:effectLst/>
                    <a:latin typeface="Calibri" panose="020F0502020204030204" pitchFamily="34" charset="0"/>
                    <a:ea typeface="Calibri" panose="020F0502020204030204" pitchFamily="34" charset="0"/>
                    <a:cs typeface="Times New Roman" panose="02020603050405020304" pitchFamily="18" charset="0"/>
                  </a:rPr>
                  <a:t>Para cada animal indicado en la parte superior de la tabla, tenemos un código de atributo</a:t>
                </a:r>
                <a:r>
                  <a:rPr lang="es-ES" dirty="0">
                    <a:effectLst/>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acc>
                      <m:accPr>
                        <m:chr m:val="⃗"/>
                        <m:ctrlPr>
                          <a:rPr lang="es-ES" i="1">
                            <a:effectLst/>
                            <a:latin typeface="Cambria Math" panose="02040503050406030204" pitchFamily="18" charset="0"/>
                            <a:ea typeface="Times New Roman" panose="02020603050405020304" pitchFamily="18" charset="0"/>
                          </a:rPr>
                        </m:ctrlPr>
                      </m:accPr>
                      <m:e>
                        <m:r>
                          <a:rPr lang="es-ES" i="1">
                            <a:effectLst/>
                            <a:latin typeface="Cambria Math" panose="02040503050406030204" pitchFamily="18" charset="0"/>
                            <a:ea typeface="Times New Roman" panose="02020603050405020304" pitchFamily="18" charset="0"/>
                            <a:cs typeface="Times New Roman" panose="02020603050405020304" pitchFamily="18" charset="0"/>
                          </a:rPr>
                          <m:t>𝑥</m:t>
                        </m:r>
                      </m:e>
                    </m:acc>
                  </m:oMath>
                </a14:m>
                <a:r>
                  <a:rPr lang="es-ES" baseline="-25000" dirty="0">
                    <a:effectLst/>
                    <a:latin typeface="Calibri" panose="020F0502020204030204" pitchFamily="34" charset="0"/>
                    <a:ea typeface="Times New Roman" panose="02020603050405020304" pitchFamily="18" charset="0"/>
                    <a:cs typeface="Times New Roman" panose="02020603050405020304" pitchFamily="18" charset="0"/>
                  </a:rPr>
                  <a:t>a</a:t>
                </a:r>
                <a:r>
                  <a:rPr lang="es-ES" dirty="0">
                    <a:effectLst/>
                    <a:latin typeface="Calibri" panose="020F0502020204030204" pitchFamily="34" charset="0"/>
                    <a:ea typeface="Calibri" panose="020F0502020204030204" pitchFamily="34" charset="0"/>
                    <a:cs typeface="Times New Roman" panose="02020603050405020304" pitchFamily="18" charset="0"/>
                  </a:rPr>
                  <a:t> compuesto por 13 elementos</a:t>
                </a:r>
              </a:p>
              <a:p>
                <a:r>
                  <a:rPr lang="es-ES" dirty="0">
                    <a:effectLst/>
                    <a:latin typeface="Calibri" panose="020F0502020204030204" pitchFamily="34" charset="0"/>
                    <a:ea typeface="Calibri" panose="020F0502020204030204" pitchFamily="34" charset="0"/>
                    <a:cs typeface="Times New Roman" panose="02020603050405020304" pitchFamily="18" charset="0"/>
                  </a:rPr>
                  <a:t>El animal se especifica mediante un código  simbólico</a:t>
                </a:r>
                <a14:m>
                  <m:oMath xmlns:m="http://schemas.openxmlformats.org/officeDocument/2006/math">
                    <m:r>
                      <a:rPr lang="es-ES" i="1">
                        <a:effectLst/>
                        <a:latin typeface="Cambria Math" panose="02040503050406030204" pitchFamily="18" charset="0"/>
                        <a:ea typeface="Calibri" panose="020F0502020204030204" pitchFamily="34" charset="0"/>
                        <a:cs typeface="Times New Roman" panose="02020603050405020304" pitchFamily="18" charset="0"/>
                      </a:rPr>
                      <m:t> </m:t>
                    </m:r>
                    <m:acc>
                      <m:accPr>
                        <m:chr m:val="⃗"/>
                        <m:ctrlPr>
                          <a:rPr lang="es-ES" i="1">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s-ES" i="1">
                            <a:effectLst/>
                            <a:latin typeface="Cambria Math" panose="02040503050406030204" pitchFamily="18" charset="0"/>
                            <a:ea typeface="Times New Roman" panose="02020603050405020304" pitchFamily="18" charset="0"/>
                            <a:cs typeface="Times New Roman" panose="02020603050405020304" pitchFamily="18" charset="0"/>
                          </a:rPr>
                          <m:t>𝑥</m:t>
                        </m:r>
                      </m:e>
                    </m:acc>
                  </m:oMath>
                </a14:m>
                <a:r>
                  <a:rPr lang="es-ES" baseline="-25000" dirty="0">
                    <a:effectLst/>
                    <a:latin typeface="Calibri" panose="020F0502020204030204" pitchFamily="34" charset="0"/>
                    <a:ea typeface="Times New Roman" panose="02020603050405020304" pitchFamily="18" charset="0"/>
                    <a:cs typeface="Times New Roman" panose="02020603050405020304" pitchFamily="18" charset="0"/>
                  </a:rPr>
                  <a:t>s</a:t>
                </a:r>
                <a:r>
                  <a:rPr lang="es-ES" dirty="0">
                    <a:effectLst/>
                    <a:latin typeface="Calibri" panose="020F0502020204030204" pitchFamily="34" charset="0"/>
                    <a:ea typeface="Calibri" panose="020F0502020204030204" pitchFamily="34" charset="0"/>
                    <a:cs typeface="Times New Roman" panose="02020603050405020304" pitchFamily="18" charset="0"/>
                  </a:rPr>
                  <a:t> que consiste en un vector columna cuyo k-</a:t>
                </a:r>
                <a:r>
                  <a:rPr lang="es-ES" dirty="0" err="1">
                    <a:effectLst/>
                    <a:latin typeface="Calibri" panose="020F0502020204030204" pitchFamily="34" charset="0"/>
                    <a:ea typeface="Calibri" panose="020F0502020204030204" pitchFamily="34" charset="0"/>
                    <a:cs typeface="Times New Roman" panose="02020603050405020304" pitchFamily="18" charset="0"/>
                  </a:rPr>
                  <a:t>ésimo</a:t>
                </a:r>
                <a:r>
                  <a:rPr lang="es-ES" dirty="0">
                    <a:effectLst/>
                    <a:latin typeface="Calibri" panose="020F0502020204030204" pitchFamily="34" charset="0"/>
                    <a:ea typeface="Calibri" panose="020F0502020204030204" pitchFamily="34" charset="0"/>
                    <a:cs typeface="Times New Roman" panose="02020603050405020304" pitchFamily="18" charset="0"/>
                  </a:rPr>
                  <a:t> elemento, que representa al animal k =1, 2, …, 16, recibe un valor fijo de  </a:t>
                </a:r>
                <a:r>
                  <a:rPr lang="es-ES" dirty="0">
                    <a:effectLst/>
                    <a:latin typeface="Cambria Math" panose="02040503050406030204" pitchFamily="18" charset="0"/>
                    <a:ea typeface="Calibri" panose="020F0502020204030204" pitchFamily="34" charset="0"/>
                    <a:cs typeface="Times New Roman" panose="02020603050405020304" pitchFamily="18" charset="0"/>
                  </a:rPr>
                  <a:t>a</a:t>
                </a:r>
                <a:r>
                  <a:rPr lang="es-ES" dirty="0">
                    <a:effectLst/>
                    <a:latin typeface="Calibri" panose="020F0502020204030204" pitchFamily="34" charset="0"/>
                    <a:ea typeface="Calibri" panose="020F0502020204030204" pitchFamily="34" charset="0"/>
                    <a:cs typeface="Times New Roman" panose="02020603050405020304" pitchFamily="18" charset="0"/>
                  </a:rPr>
                  <a:t>; los elementos restantes se establecen en cero.</a:t>
                </a:r>
              </a:p>
              <a:p>
                <a:r>
                  <a:rPr lang="es-ES" dirty="0">
                    <a:effectLst/>
                    <a:latin typeface="Calibri" panose="020F0502020204030204" pitchFamily="34" charset="0"/>
                    <a:ea typeface="Calibri" panose="020F0502020204030204" pitchFamily="34" charset="0"/>
                    <a:cs typeface="Times New Roman" panose="02020603050405020304" pitchFamily="18" charset="0"/>
                  </a:rPr>
                  <a:t> El parámetro </a:t>
                </a:r>
                <a:r>
                  <a:rPr lang="es-ES" dirty="0">
                    <a:effectLst/>
                    <a:latin typeface="Cambria Math" panose="02040503050406030204" pitchFamily="18" charset="0"/>
                    <a:ea typeface="Calibri" panose="020F0502020204030204" pitchFamily="34" charset="0"/>
                    <a:cs typeface="Times New Roman" panose="02020603050405020304" pitchFamily="18" charset="0"/>
                  </a:rPr>
                  <a:t>a</a:t>
                </a:r>
                <a:r>
                  <a:rPr lang="es-ES" dirty="0">
                    <a:effectLst/>
                    <a:latin typeface="Calibri" panose="020F0502020204030204" pitchFamily="34" charset="0"/>
                    <a:ea typeface="Calibri" panose="020F0502020204030204" pitchFamily="34" charset="0"/>
                    <a:cs typeface="Times New Roman" panose="02020603050405020304" pitchFamily="18" charset="0"/>
                  </a:rPr>
                  <a:t> determina la influencia relativa del código simbólico en comparación con la del código de atributo. Para asegurar que el código de atributo sea el dominante, se elige </a:t>
                </a:r>
                <a:r>
                  <a:rPr lang="es-ES" dirty="0">
                    <a:effectLst/>
                    <a:latin typeface="Cambria Math" panose="02040503050406030204" pitchFamily="18" charset="0"/>
                    <a:ea typeface="Calibri" panose="020F0502020204030204" pitchFamily="34" charset="0"/>
                    <a:cs typeface="Times New Roman" panose="02020603050405020304" pitchFamily="18" charset="0"/>
                  </a:rPr>
                  <a:t>a</a:t>
                </a:r>
                <a:r>
                  <a:rPr lang="es-ES" dirty="0">
                    <a:effectLst/>
                    <a:latin typeface="Calibri" panose="020F0502020204030204" pitchFamily="34" charset="0"/>
                    <a:ea typeface="Calibri" panose="020F0502020204030204" pitchFamily="34" charset="0"/>
                    <a:cs typeface="Times New Roman" panose="02020603050405020304" pitchFamily="18" charset="0"/>
                  </a:rPr>
                  <a:t> =0,2.</a:t>
                </a:r>
              </a:p>
              <a:p>
                <a:r>
                  <a:rPr lang="es-ES" dirty="0">
                    <a:effectLst/>
                    <a:latin typeface="Calibri" panose="020F0502020204030204" pitchFamily="34" charset="0"/>
                    <a:ea typeface="Calibri" panose="020F0502020204030204" pitchFamily="34" charset="0"/>
                    <a:cs typeface="Times New Roman" panose="02020603050405020304" pitchFamily="18" charset="0"/>
                  </a:rPr>
                  <a:t> El vector de entrada </a:t>
                </a:r>
                <a14:m>
                  <m:oMath xmlns:m="http://schemas.openxmlformats.org/officeDocument/2006/math">
                    <m:acc>
                      <m:accPr>
                        <m:chr m:val="⃗"/>
                        <m:ctrlPr>
                          <a:rPr lang="es-ES" i="1">
                            <a:effectLst/>
                            <a:latin typeface="Cambria Math" panose="02040503050406030204" pitchFamily="18" charset="0"/>
                            <a:ea typeface="Calibri" panose="020F0502020204030204" pitchFamily="34" charset="0"/>
                            <a:cs typeface="Times New Roman" panose="02020603050405020304" pitchFamily="18" charset="0"/>
                          </a:rPr>
                        </m:ctrlPr>
                      </m:accPr>
                      <m:e>
                        <m:r>
                          <a:rPr lang="es-ES" i="1">
                            <a:effectLst/>
                            <a:latin typeface="Cambria Math" panose="02040503050406030204" pitchFamily="18" charset="0"/>
                            <a:ea typeface="Calibri" panose="020F0502020204030204" pitchFamily="34" charset="0"/>
                            <a:cs typeface="Times New Roman" panose="02020603050405020304" pitchFamily="18" charset="0"/>
                          </a:rPr>
                          <m:t>𝑥</m:t>
                        </m:r>
                      </m:e>
                    </m:acc>
                  </m:oMath>
                </a14:m>
                <a:r>
                  <a:rPr lang="es-ES" dirty="0">
                    <a:effectLst/>
                    <a:latin typeface="Calibri" panose="020F0502020204030204" pitchFamily="34" charset="0"/>
                    <a:ea typeface="Calibri" panose="020F0502020204030204" pitchFamily="34" charset="0"/>
                    <a:cs typeface="Times New Roman" panose="02020603050405020304" pitchFamily="18" charset="0"/>
                  </a:rPr>
                  <a:t> para cada animal es un vector de 29 elementos, que representa una concatenación del código de atributo </a:t>
                </a:r>
                <a14:m>
                  <m:oMath xmlns:m="http://schemas.openxmlformats.org/officeDocument/2006/math">
                    <m:acc>
                      <m:accPr>
                        <m:chr m:val="⃗"/>
                        <m:ctrlPr>
                          <a:rPr lang="es-ES" i="1">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s-ES" i="1">
                            <a:effectLst/>
                            <a:latin typeface="Cambria Math" panose="02040503050406030204" pitchFamily="18" charset="0"/>
                            <a:ea typeface="Times New Roman" panose="02020603050405020304" pitchFamily="18" charset="0"/>
                            <a:cs typeface="Times New Roman" panose="02020603050405020304" pitchFamily="18" charset="0"/>
                          </a:rPr>
                          <m:t>𝑥</m:t>
                        </m:r>
                      </m:e>
                    </m:acc>
                  </m:oMath>
                </a14:m>
                <a:r>
                  <a:rPr lang="es-ES" baseline="-25000" dirty="0">
                    <a:effectLst/>
                    <a:latin typeface="Calibri" panose="020F0502020204030204" pitchFamily="34" charset="0"/>
                    <a:ea typeface="Times New Roman" panose="02020603050405020304" pitchFamily="18" charset="0"/>
                    <a:cs typeface="Times New Roman" panose="02020603050405020304" pitchFamily="18" charset="0"/>
                  </a:rPr>
                  <a:t>a</a:t>
                </a:r>
                <a:r>
                  <a:rPr lang="es-ES" dirty="0">
                    <a:effectLst/>
                    <a:latin typeface="Calibri" panose="020F0502020204030204" pitchFamily="34" charset="0"/>
                    <a:ea typeface="Calibri" panose="020F0502020204030204" pitchFamily="34" charset="0"/>
                    <a:cs typeface="Times New Roman" panose="02020603050405020304" pitchFamily="18" charset="0"/>
                  </a:rPr>
                  <a:t> y el código de símbolo </a:t>
                </a:r>
                <a14:m>
                  <m:oMath xmlns:m="http://schemas.openxmlformats.org/officeDocument/2006/math">
                    <m:acc>
                      <m:accPr>
                        <m:chr m:val="⃗"/>
                        <m:ctrlPr>
                          <a:rPr lang="es-ES" i="1">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s-ES" i="1">
                            <a:effectLst/>
                            <a:latin typeface="Cambria Math" panose="02040503050406030204" pitchFamily="18" charset="0"/>
                            <a:ea typeface="Times New Roman" panose="02020603050405020304" pitchFamily="18" charset="0"/>
                            <a:cs typeface="Times New Roman" panose="02020603050405020304" pitchFamily="18" charset="0"/>
                          </a:rPr>
                          <m:t>𝑥</m:t>
                        </m:r>
                      </m:e>
                    </m:acc>
                  </m:oMath>
                </a14:m>
                <a:r>
                  <a:rPr lang="es-ES" baseline="-25000" dirty="0">
                    <a:effectLst/>
                    <a:latin typeface="Calibri" panose="020F0502020204030204" pitchFamily="34" charset="0"/>
                    <a:ea typeface="Times New Roman" panose="02020603050405020304" pitchFamily="18" charset="0"/>
                    <a:cs typeface="Times New Roman" panose="02020603050405020304" pitchFamily="18" charset="0"/>
                  </a:rPr>
                  <a:t>s</a:t>
                </a:r>
                <a:r>
                  <a:rPr lang="es-ES" dirty="0">
                    <a:effectLst/>
                    <a:latin typeface="Calibri" panose="020F0502020204030204" pitchFamily="34" charset="0"/>
                    <a:ea typeface="Calibri" panose="020F0502020204030204" pitchFamily="34" charset="0"/>
                    <a:cs typeface="Times New Roman" panose="02020603050405020304" pitchFamily="18" charset="0"/>
                  </a:rPr>
                  <a:t>, como se muestra a continuación:</a:t>
                </a:r>
              </a:p>
              <a:p>
                <a:pPr marL="0" indent="0">
                  <a:buNone/>
                </a:pPr>
                <a:endParaRPr lang="es-ES" dirty="0"/>
              </a:p>
            </p:txBody>
          </p:sp>
        </mc:Choice>
        <mc:Fallback>
          <p:sp>
            <p:nvSpPr>
              <p:cNvPr id="3" name="Marcador de contenido 2">
                <a:extLst>
                  <a:ext uri="{FF2B5EF4-FFF2-40B4-BE49-F238E27FC236}">
                    <a16:creationId xmlns:a16="http://schemas.microsoft.com/office/drawing/2014/main" id="{FC6C63E8-6DC9-4DBE-AA01-C81C3624A128}"/>
                  </a:ext>
                </a:extLst>
              </p:cNvPr>
              <p:cNvSpPr>
                <a:spLocks noGrp="1" noRot="1" noChangeAspect="1" noMove="1" noResize="1" noEditPoints="1" noAdjustHandles="1" noChangeArrowheads="1" noChangeShapeType="1" noTextEdit="1"/>
              </p:cNvSpPr>
              <p:nvPr>
                <p:ph idx="1"/>
              </p:nvPr>
            </p:nvSpPr>
            <p:spPr>
              <a:xfrm>
                <a:off x="371474" y="206374"/>
                <a:ext cx="11458575" cy="6499225"/>
              </a:xfrm>
              <a:blipFill>
                <a:blip r:embed="rId2"/>
                <a:stretch>
                  <a:fillRect l="-957" t="-1595" r="-1064"/>
                </a:stretch>
              </a:blipFill>
            </p:spPr>
            <p:txBody>
              <a:bodyPr/>
              <a:lstStyle/>
              <a:p>
                <a:r>
                  <a:rPr lang="es-ES">
                    <a:noFill/>
                  </a:rPr>
                  <a:t> </a:t>
                </a:r>
              </a:p>
            </p:txBody>
          </p:sp>
        </mc:Fallback>
      </mc:AlternateContent>
      <p:pic>
        <p:nvPicPr>
          <p:cNvPr id="4" name="Imagen 3">
            <a:extLst>
              <a:ext uri="{FF2B5EF4-FFF2-40B4-BE49-F238E27FC236}">
                <a16:creationId xmlns:a16="http://schemas.microsoft.com/office/drawing/2014/main" id="{C39B730E-8FE6-468E-BAED-EE206F870E6F}"/>
              </a:ext>
            </a:extLst>
          </p:cNvPr>
          <p:cNvPicPr>
            <a:picLocks noChangeAspect="1"/>
          </p:cNvPicPr>
          <p:nvPr/>
        </p:nvPicPr>
        <p:blipFill>
          <a:blip r:embed="rId3"/>
          <a:stretch>
            <a:fillRect/>
          </a:stretch>
        </p:blipFill>
        <p:spPr>
          <a:xfrm>
            <a:off x="3410492" y="5400930"/>
            <a:ext cx="5066215" cy="1457070"/>
          </a:xfrm>
          <a:prstGeom prst="rect">
            <a:avLst/>
          </a:prstGeom>
        </p:spPr>
      </p:pic>
    </p:spTree>
    <p:extLst>
      <p:ext uri="{BB962C8B-B14F-4D97-AF65-F5344CB8AC3E}">
        <p14:creationId xmlns:p14="http://schemas.microsoft.com/office/powerpoint/2010/main" val="11816517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a:extLst>
              <a:ext uri="{FF2B5EF4-FFF2-40B4-BE49-F238E27FC236}">
                <a16:creationId xmlns:a16="http://schemas.microsoft.com/office/drawing/2014/main" id="{E9409B03-F829-45AC-83EB-F3F4C36D6891}"/>
              </a:ext>
            </a:extLst>
          </p:cNvPr>
          <p:cNvSpPr>
            <a:spLocks noGrp="1"/>
          </p:cNvSpPr>
          <p:nvPr>
            <p:ph type="subTitle" idx="1"/>
          </p:nvPr>
        </p:nvSpPr>
        <p:spPr>
          <a:xfrm>
            <a:off x="257175" y="430213"/>
            <a:ext cx="9144000" cy="750887"/>
          </a:xfrm>
        </p:spPr>
        <p:txBody>
          <a:bodyPr>
            <a:normAutofit/>
          </a:bodyPr>
          <a:lstStyle/>
          <a:p>
            <a:r>
              <a:rPr lang="es-ES" sz="4000" b="1" dirty="0"/>
              <a:t>Fase de Entrenamiento</a:t>
            </a:r>
          </a:p>
        </p:txBody>
      </p:sp>
      <p:sp>
        <p:nvSpPr>
          <p:cNvPr id="4" name="CuadroTexto 3">
            <a:extLst>
              <a:ext uri="{FF2B5EF4-FFF2-40B4-BE49-F238E27FC236}">
                <a16:creationId xmlns:a16="http://schemas.microsoft.com/office/drawing/2014/main" id="{795392C0-7B28-47AB-B919-8D1AEBEF9F07}"/>
              </a:ext>
            </a:extLst>
          </p:cNvPr>
          <p:cNvSpPr txBox="1"/>
          <p:nvPr/>
        </p:nvSpPr>
        <p:spPr>
          <a:xfrm>
            <a:off x="952500" y="1181100"/>
            <a:ext cx="9629775" cy="2062103"/>
          </a:xfrm>
          <a:prstGeom prst="rect">
            <a:avLst/>
          </a:prstGeom>
          <a:noFill/>
        </p:spPr>
        <p:txBody>
          <a:bodyPr wrap="square" rtlCol="0">
            <a:spAutoFit/>
          </a:bodyPr>
          <a:lstStyle/>
          <a:p>
            <a:pPr marL="285750" indent="-285750">
              <a:buFont typeface="Arial" panose="020B0604020202020204" pitchFamily="34" charset="0"/>
              <a:buChar char="•"/>
            </a:pPr>
            <a:r>
              <a:rPr lang="es-ES" sz="3200" dirty="0"/>
              <a:t>Se toman los vectores normalizados</a:t>
            </a:r>
          </a:p>
          <a:p>
            <a:pPr marL="285750" indent="-285750">
              <a:buFont typeface="Arial" panose="020B0604020202020204" pitchFamily="34" charset="0"/>
              <a:buChar char="•"/>
            </a:pPr>
            <a:r>
              <a:rPr lang="es-ES" sz="3200" dirty="0"/>
              <a:t>Se usa una red neuronal bidimensional 10x10</a:t>
            </a:r>
          </a:p>
          <a:p>
            <a:pPr marL="285750" indent="-285750">
              <a:buFont typeface="Arial" panose="020B0604020202020204" pitchFamily="34" charset="0"/>
              <a:buChar char="•"/>
            </a:pPr>
            <a:r>
              <a:rPr lang="es-ES" sz="3200" dirty="0"/>
              <a:t>Se entrena durante 2000 iteraciones (estabilidad)</a:t>
            </a:r>
          </a:p>
          <a:p>
            <a:pPr marL="285750" indent="-285750">
              <a:buFont typeface="Arial" panose="020B0604020202020204" pitchFamily="34" charset="0"/>
              <a:buChar char="•"/>
            </a:pPr>
            <a:endParaRPr lang="es-ES" sz="3200" dirty="0"/>
          </a:p>
        </p:txBody>
      </p:sp>
      <p:sp>
        <p:nvSpPr>
          <p:cNvPr id="5" name="Subtítulo 2">
            <a:extLst>
              <a:ext uri="{FF2B5EF4-FFF2-40B4-BE49-F238E27FC236}">
                <a16:creationId xmlns:a16="http://schemas.microsoft.com/office/drawing/2014/main" id="{E17B6439-AB88-4E4D-ABB1-CFAD959288D0}"/>
              </a:ext>
            </a:extLst>
          </p:cNvPr>
          <p:cNvSpPr txBox="1">
            <a:spLocks/>
          </p:cNvSpPr>
          <p:nvPr/>
        </p:nvSpPr>
        <p:spPr>
          <a:xfrm>
            <a:off x="504825" y="3053556"/>
            <a:ext cx="9144000" cy="75088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s-ES" sz="4000" b="1" dirty="0"/>
              <a:t>Fase de Producción</a:t>
            </a:r>
          </a:p>
        </p:txBody>
      </p:sp>
      <mc:AlternateContent xmlns:mc="http://schemas.openxmlformats.org/markup-compatibility/2006">
        <mc:Choice xmlns:a14="http://schemas.microsoft.com/office/drawing/2010/main" Requires="a14">
          <p:sp>
            <p:nvSpPr>
              <p:cNvPr id="6" name="CuadroTexto 5">
                <a:extLst>
                  <a:ext uri="{FF2B5EF4-FFF2-40B4-BE49-F238E27FC236}">
                    <a16:creationId xmlns:a16="http://schemas.microsoft.com/office/drawing/2014/main" id="{43EC5479-EAAF-44D5-B957-37E4867E0E1D}"/>
                  </a:ext>
                </a:extLst>
              </p:cNvPr>
              <p:cNvSpPr txBox="1"/>
              <p:nvPr/>
            </p:nvSpPr>
            <p:spPr>
              <a:xfrm>
                <a:off x="857250" y="3804443"/>
                <a:ext cx="9629775" cy="2062103"/>
              </a:xfrm>
              <a:prstGeom prst="rect">
                <a:avLst/>
              </a:prstGeom>
              <a:noFill/>
            </p:spPr>
            <p:txBody>
              <a:bodyPr wrap="square" rtlCol="0">
                <a:spAutoFit/>
              </a:bodyPr>
              <a:lstStyle/>
              <a:p>
                <a:pPr marL="285750" indent="-285750">
                  <a:buFont typeface="Arial" panose="020B0604020202020204" pitchFamily="34" charset="0"/>
                  <a:buChar char="•"/>
                </a:pPr>
                <a:r>
                  <a:rPr lang="es-ES" sz="3200" dirty="0">
                    <a:effectLst/>
                    <a:latin typeface="Calibri" panose="020F0502020204030204" pitchFamily="34" charset="0"/>
                    <a:ea typeface="Calibri" panose="020F0502020204030204" pitchFamily="34" charset="0"/>
                    <a:cs typeface="Times New Roman" panose="02020603050405020304" pitchFamily="18" charset="0"/>
                  </a:rPr>
                  <a:t>Se presenta un patrón de prueba definido por </a:t>
                </a:r>
                <a14:m>
                  <m:oMath xmlns:m="http://schemas.openxmlformats.org/officeDocument/2006/math">
                    <m:acc>
                      <m:accPr>
                        <m:chr m:val="⃗"/>
                        <m:ctrlPr>
                          <a:rPr lang="es-ES" sz="3200" i="1">
                            <a:effectLst/>
                            <a:latin typeface="Cambria Math" panose="02040503050406030204" pitchFamily="18" charset="0"/>
                            <a:ea typeface="Times New Roman" panose="02020603050405020304" pitchFamily="18" charset="0"/>
                          </a:rPr>
                        </m:ctrlPr>
                      </m:accPr>
                      <m:e>
                        <m:r>
                          <a:rPr lang="es-ES" sz="3200" i="1">
                            <a:effectLst/>
                            <a:latin typeface="Cambria Math" panose="02040503050406030204" pitchFamily="18" charset="0"/>
                            <a:ea typeface="Times New Roman" panose="02020603050405020304" pitchFamily="18" charset="0"/>
                            <a:cs typeface="Times New Roman" panose="02020603050405020304" pitchFamily="18" charset="0"/>
                          </a:rPr>
                          <m:t>𝑥</m:t>
                        </m:r>
                      </m:e>
                    </m:acc>
                    <m:sSup>
                      <m:sSupPr>
                        <m:ctrlPr>
                          <a:rPr lang="es-ES" sz="3200" i="1">
                            <a:effectLst/>
                            <a:latin typeface="Cambria Math" panose="02040503050406030204" pitchFamily="18" charset="0"/>
                            <a:ea typeface="Times New Roman" panose="02020603050405020304" pitchFamily="18" charset="0"/>
                          </a:rPr>
                        </m:ctrlPr>
                      </m:sSupPr>
                      <m:e>
                        <m:r>
                          <a:rPr lang="es-ES" sz="32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ES" sz="3200" i="1">
                                <a:effectLst/>
                                <a:latin typeface="Cambria Math" panose="02040503050406030204" pitchFamily="18" charset="0"/>
                                <a:ea typeface="Times New Roman" panose="02020603050405020304" pitchFamily="18" charset="0"/>
                              </a:rPr>
                            </m:ctrlPr>
                          </m:sSubPr>
                          <m:e>
                            <m:acc>
                              <m:accPr>
                                <m:chr m:val="⃗"/>
                                <m:ctrlPr>
                                  <a:rPr lang="es-ES" sz="3200" i="1">
                                    <a:effectLst/>
                                    <a:latin typeface="Cambria Math" panose="02040503050406030204" pitchFamily="18" charset="0"/>
                                    <a:ea typeface="Times New Roman" panose="02020603050405020304" pitchFamily="18" charset="0"/>
                                  </a:rPr>
                                </m:ctrlPr>
                              </m:accPr>
                              <m:e>
                                <m:r>
                                  <a:rPr lang="es-ES" sz="3200" i="1">
                                    <a:effectLst/>
                                    <a:latin typeface="Cambria Math" panose="02040503050406030204" pitchFamily="18" charset="0"/>
                                    <a:ea typeface="Times New Roman" panose="02020603050405020304" pitchFamily="18" charset="0"/>
                                    <a:cs typeface="Times New Roman" panose="02020603050405020304" pitchFamily="18" charset="0"/>
                                  </a:rPr>
                                  <m:t>𝑥</m:t>
                                </m:r>
                              </m:e>
                            </m:acc>
                          </m:e>
                          <m:sub>
                            <m:r>
                              <a:rPr lang="es-ES" sz="32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r>
                          <a:rPr lang="es-ES" sz="3200" i="1">
                            <a:effectLst/>
                            <a:latin typeface="Cambria Math" panose="02040503050406030204" pitchFamily="18" charset="0"/>
                            <a:ea typeface="Times New Roman" panose="02020603050405020304" pitchFamily="18" charset="0"/>
                            <a:cs typeface="Times New Roman" panose="02020603050405020304" pitchFamily="18" charset="0"/>
                          </a:rPr>
                          <m:t>,0]</m:t>
                        </m:r>
                      </m:e>
                      <m:sup>
                        <m:r>
                          <a:rPr lang="es-ES" sz="3200" i="1">
                            <a:effectLst/>
                            <a:latin typeface="Cambria Math" panose="02040503050406030204" pitchFamily="18" charset="0"/>
                            <a:ea typeface="Times New Roman" panose="02020603050405020304" pitchFamily="18" charset="0"/>
                            <a:cs typeface="Times New Roman" panose="02020603050405020304" pitchFamily="18" charset="0"/>
                          </a:rPr>
                          <m:t>𝑡</m:t>
                        </m:r>
                      </m:sup>
                    </m:sSup>
                  </m:oMath>
                </a14:m>
                <a:r>
                  <a:rPr lang="es-ES" sz="3200" dirty="0">
                    <a:effectLst/>
                    <a:latin typeface="Calibri" panose="020F0502020204030204" pitchFamily="34" charset="0"/>
                    <a:ea typeface="Times New Roman" panose="02020603050405020304" pitchFamily="18" charset="0"/>
                    <a:cs typeface="Times New Roman" panose="02020603050405020304" pitchFamily="18" charset="0"/>
                  </a:rPr>
                  <a:t> que contiene el código simbólico de solo uno de los animales y se identifica la neurona ganadora</a:t>
                </a:r>
              </a:p>
              <a:p>
                <a:pPr marL="285750" indent="-285750">
                  <a:buFont typeface="Arial" panose="020B0604020202020204" pitchFamily="34" charset="0"/>
                  <a:buChar char="•"/>
                </a:pPr>
                <a:r>
                  <a:rPr lang="es-ES" sz="3200" dirty="0">
                    <a:latin typeface="Calibri" panose="020F0502020204030204" pitchFamily="34" charset="0"/>
                    <a:cs typeface="Times New Roman" panose="02020603050405020304" pitchFamily="18" charset="0"/>
                  </a:rPr>
                  <a:t>Se repite el proceso anterior para los 16 animales</a:t>
                </a:r>
                <a:endParaRPr lang="es-ES" sz="3200" dirty="0"/>
              </a:p>
            </p:txBody>
          </p:sp>
        </mc:Choice>
        <mc:Fallback>
          <p:sp>
            <p:nvSpPr>
              <p:cNvPr id="6" name="CuadroTexto 5">
                <a:extLst>
                  <a:ext uri="{FF2B5EF4-FFF2-40B4-BE49-F238E27FC236}">
                    <a16:creationId xmlns:a16="http://schemas.microsoft.com/office/drawing/2014/main" id="{43EC5479-EAAF-44D5-B957-37E4867E0E1D}"/>
                  </a:ext>
                </a:extLst>
              </p:cNvPr>
              <p:cNvSpPr txBox="1">
                <a:spLocks noRot="1" noChangeAspect="1" noMove="1" noResize="1" noEditPoints="1" noAdjustHandles="1" noChangeArrowheads="1" noChangeShapeType="1" noTextEdit="1"/>
              </p:cNvSpPr>
              <p:nvPr/>
            </p:nvSpPr>
            <p:spPr>
              <a:xfrm>
                <a:off x="857250" y="3804443"/>
                <a:ext cx="9629775" cy="2062103"/>
              </a:xfrm>
              <a:prstGeom prst="rect">
                <a:avLst/>
              </a:prstGeom>
              <a:blipFill>
                <a:blip r:embed="rId2"/>
                <a:stretch>
                  <a:fillRect l="-1457" t="-3846" r="-1330" b="-8876"/>
                </a:stretch>
              </a:blipFill>
            </p:spPr>
            <p:txBody>
              <a:bodyPr/>
              <a:lstStyle/>
              <a:p>
                <a:r>
                  <a:rPr lang="es-ES">
                    <a:noFill/>
                  </a:rPr>
                  <a:t> </a:t>
                </a:r>
              </a:p>
            </p:txBody>
          </p:sp>
        </mc:Fallback>
      </mc:AlternateContent>
    </p:spTree>
    <p:extLst>
      <p:ext uri="{BB962C8B-B14F-4D97-AF65-F5344CB8AC3E}">
        <p14:creationId xmlns:p14="http://schemas.microsoft.com/office/powerpoint/2010/main" val="622180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B6D2F9F8-28D5-4E35-88C5-1E0EAC03F07F}"/>
              </a:ext>
            </a:extLst>
          </p:cNvPr>
          <p:cNvPicPr/>
          <p:nvPr/>
        </p:nvPicPr>
        <p:blipFill>
          <a:blip r:embed="rId2"/>
          <a:stretch>
            <a:fillRect/>
          </a:stretch>
        </p:blipFill>
        <p:spPr>
          <a:xfrm>
            <a:off x="457200" y="0"/>
            <a:ext cx="11010900" cy="5829300"/>
          </a:xfrm>
          <a:prstGeom prst="rect">
            <a:avLst/>
          </a:prstGeom>
        </p:spPr>
      </p:pic>
      <p:sp>
        <p:nvSpPr>
          <p:cNvPr id="5" name="CuadroTexto 4">
            <a:extLst>
              <a:ext uri="{FF2B5EF4-FFF2-40B4-BE49-F238E27FC236}">
                <a16:creationId xmlns:a16="http://schemas.microsoft.com/office/drawing/2014/main" id="{F8A38FAC-79C7-4139-88DD-1385CE45D817}"/>
              </a:ext>
            </a:extLst>
          </p:cNvPr>
          <p:cNvSpPr txBox="1"/>
          <p:nvPr/>
        </p:nvSpPr>
        <p:spPr>
          <a:xfrm>
            <a:off x="876300" y="6124575"/>
            <a:ext cx="9563100" cy="646331"/>
          </a:xfrm>
          <a:prstGeom prst="rect">
            <a:avLst/>
          </a:prstGeom>
          <a:noFill/>
        </p:spPr>
        <p:txBody>
          <a:bodyPr wrap="square" rtlCol="0">
            <a:spAutoFit/>
          </a:bodyPr>
          <a:lstStyle/>
          <a:p>
            <a:r>
              <a:rPr lang="es-ES" sz="1800" dirty="0">
                <a:effectLst/>
                <a:latin typeface="Calibri" panose="020F0502020204030204" pitchFamily="34" charset="0"/>
                <a:ea typeface="Calibri" panose="020F0502020204030204" pitchFamily="34" charset="0"/>
                <a:cs typeface="Times New Roman" panose="02020603050405020304" pitchFamily="18" charset="0"/>
              </a:rPr>
              <a:t>;los espacios rectangulares vacíos en la figura representan neuronas con respuestas más débiles.</a:t>
            </a:r>
          </a:p>
          <a:p>
            <a:endParaRPr lang="es-ES" dirty="0"/>
          </a:p>
        </p:txBody>
      </p:sp>
    </p:spTree>
    <p:extLst>
      <p:ext uri="{BB962C8B-B14F-4D97-AF65-F5344CB8AC3E}">
        <p14:creationId xmlns:p14="http://schemas.microsoft.com/office/powerpoint/2010/main" val="842954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CFC455-B696-4E21-BBC5-A51843E5377D}"/>
              </a:ext>
            </a:extLst>
          </p:cNvPr>
          <p:cNvSpPr>
            <a:spLocks noGrp="1"/>
          </p:cNvSpPr>
          <p:nvPr>
            <p:ph type="ctrTitle"/>
          </p:nvPr>
        </p:nvSpPr>
        <p:spPr>
          <a:xfrm>
            <a:off x="1343025" y="333375"/>
            <a:ext cx="9144000" cy="719138"/>
          </a:xfrm>
        </p:spPr>
        <p:txBody>
          <a:bodyPr>
            <a:normAutofit/>
          </a:bodyPr>
          <a:lstStyle/>
          <a:p>
            <a:r>
              <a:rPr lang="es-ES" sz="4000" b="1" dirty="0">
                <a:latin typeface="+mn-lt"/>
              </a:rPr>
              <a:t>Mapa contextual o mapa semántico</a:t>
            </a:r>
          </a:p>
        </p:txBody>
      </p:sp>
      <p:sp>
        <p:nvSpPr>
          <p:cNvPr id="3" name="Subtítulo 2">
            <a:extLst>
              <a:ext uri="{FF2B5EF4-FFF2-40B4-BE49-F238E27FC236}">
                <a16:creationId xmlns:a16="http://schemas.microsoft.com/office/drawing/2014/main" id="{CFEA0647-1BE1-4A5F-AAA7-6F9365FCBA91}"/>
              </a:ext>
            </a:extLst>
          </p:cNvPr>
          <p:cNvSpPr>
            <a:spLocks noGrp="1"/>
          </p:cNvSpPr>
          <p:nvPr>
            <p:ph type="subTitle" idx="1"/>
          </p:nvPr>
        </p:nvSpPr>
        <p:spPr>
          <a:xfrm>
            <a:off x="1000124" y="1449387"/>
            <a:ext cx="10658475" cy="5075237"/>
          </a:xfrm>
        </p:spPr>
        <p:txBody>
          <a:bodyPr>
            <a:normAutofit/>
          </a:bodyPr>
          <a:lstStyle/>
          <a:p>
            <a:pPr algn="l"/>
            <a:r>
              <a:rPr lang="es-ES" sz="3200" dirty="0">
                <a:effectLst/>
                <a:latin typeface="Calibri" panose="020F0502020204030204" pitchFamily="34" charset="0"/>
                <a:ea typeface="Calibri" panose="020F0502020204030204" pitchFamily="34" charset="0"/>
                <a:cs typeface="Times New Roman" panose="02020603050405020304" pitchFamily="18" charset="0"/>
              </a:rPr>
              <a:t>Para mostrar el resultado del mapeo simulado para la red autoorganizada:</a:t>
            </a:r>
          </a:p>
          <a:p>
            <a:pPr marL="457200" indent="-457200" algn="l">
              <a:buFont typeface="Arial" panose="020B0604020202020204" pitchFamily="34" charset="0"/>
              <a:buChar char="•"/>
            </a:pPr>
            <a:r>
              <a:rPr lang="es-ES" sz="3200" dirty="0">
                <a:effectLst/>
                <a:latin typeface="Calibri" panose="020F0502020204030204" pitchFamily="34" charset="0"/>
                <a:ea typeface="Calibri" panose="020F0502020204030204" pitchFamily="34" charset="0"/>
                <a:cs typeface="Times New Roman" panose="02020603050405020304" pitchFamily="18" charset="0"/>
              </a:rPr>
              <a:t>cada neurona de la red se marca por el animal específico para el que produce la mejor respuesta</a:t>
            </a:r>
          </a:p>
          <a:p>
            <a:pPr marL="457200" indent="-457200" algn="l">
              <a:buFont typeface="Arial" panose="020B0604020202020204" pitchFamily="34" charset="0"/>
              <a:buChar char="•"/>
            </a:pPr>
            <a:r>
              <a:rPr lang="es-ES" sz="3200" dirty="0">
                <a:effectLst/>
                <a:latin typeface="Calibri" panose="020F0502020204030204" pitchFamily="34" charset="0"/>
                <a:ea typeface="Calibri" panose="020F0502020204030204" pitchFamily="34" charset="0"/>
                <a:cs typeface="Times New Roman" panose="02020603050405020304" pitchFamily="18" charset="0"/>
              </a:rPr>
              <a:t>el mapa de características capta esencialmente las relaciones familiares entre los 16 animales diferentes</a:t>
            </a:r>
            <a:endParaRPr lang="es-ES" sz="3200" dirty="0"/>
          </a:p>
        </p:txBody>
      </p:sp>
    </p:spTree>
    <p:extLst>
      <p:ext uri="{BB962C8B-B14F-4D97-AF65-F5344CB8AC3E}">
        <p14:creationId xmlns:p14="http://schemas.microsoft.com/office/powerpoint/2010/main" val="10256188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96785E5D-00D6-44B1-94B3-CE891A8237EE}"/>
              </a:ext>
            </a:extLst>
          </p:cNvPr>
          <p:cNvPicPr/>
          <p:nvPr/>
        </p:nvPicPr>
        <p:blipFill>
          <a:blip r:embed="rId2"/>
          <a:stretch>
            <a:fillRect/>
          </a:stretch>
        </p:blipFill>
        <p:spPr>
          <a:xfrm>
            <a:off x="833754" y="294322"/>
            <a:ext cx="9929495" cy="6201728"/>
          </a:xfrm>
          <a:prstGeom prst="rect">
            <a:avLst/>
          </a:prstGeom>
        </p:spPr>
      </p:pic>
    </p:spTree>
    <p:extLst>
      <p:ext uri="{BB962C8B-B14F-4D97-AF65-F5344CB8AC3E}">
        <p14:creationId xmlns:p14="http://schemas.microsoft.com/office/powerpoint/2010/main" val="257936400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TotalTime>
  <Words>688</Words>
  <Application>Microsoft Office PowerPoint</Application>
  <PresentationFormat>Panorámica</PresentationFormat>
  <Paragraphs>34</Paragraphs>
  <Slides>15</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15</vt:i4>
      </vt:variant>
    </vt:vector>
  </HeadingPairs>
  <TitlesOfParts>
    <vt:vector size="20" baseType="lpstr">
      <vt:lpstr>Arial</vt:lpstr>
      <vt:lpstr>Calibri</vt:lpstr>
      <vt:lpstr>Calibri Light</vt:lpstr>
      <vt:lpstr>Cambria Math</vt:lpstr>
      <vt:lpstr>Tema de Office</vt:lpstr>
      <vt:lpstr>SOM( Self Organizating Map) Ejemplo COVID</vt:lpstr>
      <vt:lpstr>Dataset</vt:lpstr>
      <vt:lpstr>Datos preprocesados</vt:lpstr>
      <vt:lpstr>Presentación de PowerPoint</vt:lpstr>
      <vt:lpstr>SOM (diseño)</vt:lpstr>
      <vt:lpstr>Presentación de PowerPoint</vt:lpstr>
      <vt:lpstr>Presentación de PowerPoint</vt:lpstr>
      <vt:lpstr>Presentación de PowerPoint</vt:lpstr>
      <vt:lpstr>Ejemplo SOM( Self Organizating Map) Neural Networks: A comprehensive Foundation, Simon Haykin </vt:lpstr>
      <vt:lpstr>Presentación de PowerPoint</vt:lpstr>
      <vt:lpstr>Presentación de PowerPoint</vt:lpstr>
      <vt:lpstr>Presentación de PowerPoint</vt:lpstr>
      <vt:lpstr>Presentación de PowerPoint</vt:lpstr>
      <vt:lpstr>Mapa contextual o mapa semántico</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SOM( Self Organizating Map) Ejemplo COVID</dc:title>
  <dc:creator>Rafaela Benitez</dc:creator>
  <cp:lastModifiedBy>Rafaela Benitez</cp:lastModifiedBy>
  <cp:revision>6</cp:revision>
  <dcterms:created xsi:type="dcterms:W3CDTF">2025-03-17T12:17:35Z</dcterms:created>
  <dcterms:modified xsi:type="dcterms:W3CDTF">2025-03-17T14:38:27Z</dcterms:modified>
</cp:coreProperties>
</file>